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44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Logica Interoperability Platform conversation, Demo Patient A run dated 2026-09-17. The query shown is deliberately abbreviated; the real query also specifies patient, terminology system and dates. MIMIC/SQL is a possible adapter, not a demonstrated backend. Citation validation checks evidence identifiers and flags unsupported statements; it does not establish clinical truth. Visual reference: supplied Logica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supplied Logica Interoperability Platform conversation. These are research hypotheses, not validated performance results. Relevance concerns whether requested evidence supports the clinical question. Accuracy concerns reasoning over normalized evidence. Provenance and identifier validation support inspection, but do not by themselves prove that a claim is clinically correct. Portability requires backend-specific bindings and normalization mappings while retaining logical clinical expressions.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63" name="Rectangle 62">
            <a:extLst>
              <a:ext uri="{FF2B5EF4-FFF2-40B4-BE49-F238E27FC236}">
                <a16:creationId xmlns:a16="http://schemas.microsoft.com/office/drawing/2014/main" id="{2CD496D9-324E-4959-9547-409C5AD255B2}"/>
              </a:ext>
            </a:extLst>
          </p:cNvPr>
          <p:cNvSpPr>
            <a:spLocks noGrp="1"/>
          </p:cNvSpPr>
          <p:nvPr/>
        </p:nvSpPr>
        <p:spPr>
          <a:xfrm>
            <a:off x="809625" y="381000"/>
            <a:ext cx="3810000" cy="571500"/>
          </a:xfrm>
          <a:prstGeom prst="rect">
            <a:avLst/>
          </a:prstGeom>
          <a:noFill/>
          <a:ln w="0">
            <a:noFill/>
          </a:ln>
        </p:spPr>
        <p:txBody>
          <a:bodyPr>
            <a:noAutofit/>
          </a:bodyPr>
          <a:lstStyle/>
          <a:p>
            <a:pPr>
              <a:defRPr sz="3750" b="1">
                <a:solidFill>
                  <a:srgbClr val="16202B"/>
                </a:solidFill>
                <a:latin typeface="IBM Plex Sans"/>
                <a:ea typeface="IBM Plex Sans"/>
                <a:cs typeface="IBM Plex Sans"/>
              </a:defRPr>
            </a:pPr>
            <a:r>
              <a:rPr sz="3750" b="1">
                <a:solidFill>
                  <a:srgbClr val="16202B"/>
                </a:solidFill>
                <a:latin typeface="IBM Plex Sans"/>
                <a:ea typeface="IBM Plex Sans"/>
                <a:cs typeface="IBM Plex Sans"/>
              </a:rPr>
              <a:t>Logica</a:t>
            </a:r>
          </a:p>
        </p:txBody>
      </p:sp>
      <p:sp>
        <p:nvSpPr>
          <p:cNvPr id="2" name="Rectangle 1">
            <a:extLst>
              <a:ext uri="{FF2B5EF4-FFF2-40B4-BE49-F238E27FC236}">
                <a16:creationId xmlns:a16="http://schemas.microsoft.com/office/drawing/2014/main" id="{5828EC4F-B3C7-483D-BC80-29093FF81466}"/>
              </a:ext>
            </a:extLst>
          </p:cNvPr>
          <p:cNvSpPr>
            <a:spLocks noGrp="1"/>
          </p:cNvSpPr>
          <p:nvPr/>
        </p:nvSpPr>
        <p:spPr>
          <a:xfrm>
            <a:off x="809625" y="981075"/>
            <a:ext cx="10001250" cy="371475"/>
          </a:xfrm>
          <a:prstGeom prst="rect">
            <a:avLst/>
          </a:prstGeom>
          <a:noFill/>
          <a:ln w="0">
            <a:noFill/>
          </a:ln>
        </p:spPr>
        <p:txBody>
          <a:bodyPr>
            <a:noAutofit/>
          </a:bodyPr>
          <a:lstStyle/>
          <a:p>
            <a:pPr>
              <a:defRPr sz="2175" b="0">
                <a:solidFill>
                  <a:srgbClr val="5A6672"/>
                </a:solidFill>
                <a:latin typeface="IBM Plex Sans"/>
                <a:ea typeface="IBM Plex Sans"/>
                <a:cs typeface="IBM Plex Sans"/>
              </a:defRPr>
            </a:pPr>
            <a:r>
              <a:rPr sz="2175" b="0">
                <a:solidFill>
                  <a:srgbClr val="5A6672"/>
                </a:solidFill>
                <a:latin typeface="IBM Plex Sans"/>
                <a:ea typeface="IBM Plex Sans"/>
                <a:cs typeface="IBM Plex Sans"/>
              </a:rPr>
              <a:t>Semantic interoperability for clinical AI</a:t>
            </a:r>
          </a:p>
        </p:txBody>
      </p:sp>
      <p:sp>
        <p:nvSpPr>
          <p:cNvPr id="3" name="Rounded Rectangle 2">
            <a:extLst>
              <a:ext uri="{FF2B5EF4-FFF2-40B4-BE49-F238E27FC236}">
                <a16:creationId xmlns:a16="http://schemas.microsoft.com/office/drawing/2014/main" id="{17ED6FE3-3193-442E-8CA1-A6FE988E0AA7}"/>
              </a:ext>
            </a:extLst>
          </p:cNvPr>
          <p:cNvSpPr>
            <a:spLocks noGrp="1"/>
          </p:cNvSpPr>
          <p:nvPr/>
        </p:nvSpPr>
        <p:spPr>
          <a:xfrm>
            <a:off x="809625" y="1476375"/>
            <a:ext cx="10572750" cy="514350"/>
          </a:xfrm>
          <a:prstGeom prst="roundRect">
            <a:avLst>
              <a:gd name="adj" fmla="val 14815"/>
            </a:avLst>
          </a:prstGeom>
          <a:solidFill>
            <a:srgbClr val="16202B"/>
          </a:solidFill>
          <a:ln w="0">
            <a:noFill/>
          </a:ln>
        </p:spPr>
        <p:txBody>
          <a:bodyPr/>
          <a:lstStyle/>
          <a:p>
            <a:endParaRPr lang="en-US"/>
          </a:p>
        </p:txBody>
      </p:sp>
      <p:sp>
        <p:nvSpPr>
          <p:cNvPr id="4" name="Rectangle 3">
            <a:extLst>
              <a:ext uri="{FF2B5EF4-FFF2-40B4-BE49-F238E27FC236}">
                <a16:creationId xmlns:a16="http://schemas.microsoft.com/office/drawing/2014/main" id="{DF7E2455-9EE8-4A01-845B-4A128D926F78}"/>
              </a:ext>
            </a:extLst>
          </p:cNvPr>
          <p:cNvSpPr>
            <a:spLocks noGrp="1"/>
          </p:cNvSpPr>
          <p:nvPr/>
        </p:nvSpPr>
        <p:spPr>
          <a:xfrm>
            <a:off x="1009650" y="1581150"/>
            <a:ext cx="6191250" cy="333375"/>
          </a:xfrm>
          <a:prstGeom prst="rect">
            <a:avLst/>
          </a:prstGeom>
          <a:noFill/>
          <a:ln w="0">
            <a:noFill/>
          </a:ln>
        </p:spPr>
        <p:txBody>
          <a:bodyPr>
            <a:noAutofit/>
          </a:bodyPr>
          <a:lstStyle/>
          <a:p>
            <a:pPr>
              <a:defRPr sz="2025" b="1">
                <a:solidFill>
                  <a:srgbClr val="F7F8F6"/>
                </a:solidFill>
                <a:latin typeface="IBM Plex Sans"/>
                <a:ea typeface="IBM Plex Sans"/>
                <a:cs typeface="IBM Plex Sans"/>
              </a:defRPr>
            </a:pPr>
            <a:r>
              <a:rPr sz="2025" b="1">
                <a:solidFill>
                  <a:srgbClr val="F7F8F6"/>
                </a:solidFill>
                <a:latin typeface="IBM Plex Sans"/>
                <a:ea typeface="IBM Plex Sans"/>
                <a:cs typeface="IBM Plex Sans"/>
              </a:rPr>
              <a:t>The LLM never issues a query.</a:t>
            </a:r>
          </a:p>
        </p:txBody>
      </p:sp>
      <p:sp>
        <p:nvSpPr>
          <p:cNvPr id="5" name="Rectangle 4">
            <a:extLst>
              <a:ext uri="{FF2B5EF4-FFF2-40B4-BE49-F238E27FC236}">
                <a16:creationId xmlns:a16="http://schemas.microsoft.com/office/drawing/2014/main" id="{E230E1C1-E6F3-4CD3-A312-C5FF44AAC780}"/>
              </a:ext>
            </a:extLst>
          </p:cNvPr>
          <p:cNvSpPr>
            <a:spLocks noGrp="1"/>
          </p:cNvSpPr>
          <p:nvPr/>
        </p:nvSpPr>
        <p:spPr>
          <a:xfrm>
            <a:off x="7334250" y="1657350"/>
            <a:ext cx="3857625" cy="238125"/>
          </a:xfrm>
          <a:prstGeom prst="rect">
            <a:avLst/>
          </a:prstGeom>
          <a:noFill/>
          <a:ln w="0">
            <a:noFill/>
          </a:ln>
        </p:spPr>
        <p:txBody>
          <a:bodyPr>
            <a:noAutofit/>
          </a:bodyPr>
          <a:lstStyle/>
          <a:p>
            <a:pPr>
              <a:defRPr sz="1200" b="0">
                <a:solidFill>
                  <a:srgbClr val="BFD8D5"/>
                </a:solidFill>
                <a:latin typeface="IBM Plex Sans"/>
                <a:ea typeface="IBM Plex Sans"/>
                <a:cs typeface="IBM Plex Sans"/>
              </a:defRPr>
            </a:pPr>
            <a:r>
              <a:rPr sz="1200" b="0">
                <a:solidFill>
                  <a:srgbClr val="BFD8D5"/>
                </a:solidFill>
                <a:latin typeface="IBM Plex Sans"/>
                <a:ea typeface="IBM Plex Sans"/>
                <a:cs typeface="IBM Plex Sans"/>
              </a:rPr>
              <a:t>2 LLM roles. Deterministic retrieval.</a:t>
            </a:r>
          </a:p>
        </p:txBody>
      </p:sp>
      <p:sp>
        <p:nvSpPr>
          <p:cNvPr id="6" name="Rectangle 5">
            <a:extLst>
              <a:ext uri="{FF2B5EF4-FFF2-40B4-BE49-F238E27FC236}">
                <a16:creationId xmlns:a16="http://schemas.microsoft.com/office/drawing/2014/main" id="{18F200FE-F227-4177-A223-A6E185D747DA}"/>
              </a:ext>
            </a:extLst>
          </p:cNvPr>
          <p:cNvSpPr>
            <a:spLocks noGrp="1"/>
          </p:cNvSpPr>
          <p:nvPr/>
        </p:nvSpPr>
        <p:spPr>
          <a:xfrm>
            <a:off x="809625" y="2114550"/>
            <a:ext cx="3810000" cy="209550"/>
          </a:xfrm>
          <a:prstGeom prst="rect">
            <a:avLst/>
          </a:prstGeom>
          <a:noFill/>
          <a:ln w="0">
            <a:noFill/>
          </a:ln>
        </p:spPr>
        <p:txBody>
          <a:bodyPr>
            <a:noAutofit/>
          </a:bodyPr>
          <a:lstStyle/>
          <a:p>
            <a:pPr>
              <a:defRPr sz="1050" b="0">
                <a:solidFill>
                  <a:srgbClr val="2F6F62"/>
                </a:solidFill>
                <a:latin typeface="JetBrains Mono"/>
                <a:ea typeface="JetBrains Mono"/>
                <a:cs typeface="JetBrains Mono"/>
              </a:defRPr>
            </a:pPr>
            <a:r>
              <a:rPr sz="1050" b="0">
                <a:solidFill>
                  <a:srgbClr val="2F6F62"/>
                </a:solidFill>
                <a:latin typeface="JetBrains Mono"/>
                <a:ea typeface="JetBrains Mono"/>
                <a:cs typeface="JetBrains Mono"/>
              </a:rPr>
              <a:t>SEMANTIC / PORTABLE</a:t>
            </a:r>
          </a:p>
        </p:txBody>
      </p:sp>
      <p:sp>
        <p:nvSpPr>
          <p:cNvPr id="7" name="Rounded Rectangle 6">
            <a:extLst>
              <a:ext uri="{FF2B5EF4-FFF2-40B4-BE49-F238E27FC236}">
                <a16:creationId xmlns:a16="http://schemas.microsoft.com/office/drawing/2014/main" id="{AB57A268-22AB-48FD-9579-C004715DA367}"/>
              </a:ext>
            </a:extLst>
          </p:cNvPr>
          <p:cNvSpPr>
            <a:spLocks noGrp="1"/>
          </p:cNvSpPr>
          <p:nvPr/>
        </p:nvSpPr>
        <p:spPr>
          <a:xfrm>
            <a:off x="809625" y="2371725"/>
            <a:ext cx="2286000" cy="971550"/>
          </a:xfrm>
          <a:prstGeom prst="roundRect">
            <a:avLst>
              <a:gd name="adj" fmla="val 6863"/>
            </a:avLst>
          </a:prstGeom>
          <a:solidFill>
            <a:srgbClr val="FFFFFF"/>
          </a:solidFill>
          <a:ln w="9525">
            <a:solidFill>
              <a:srgbClr val="DDE2DE"/>
            </a:solidFill>
          </a:ln>
        </p:spPr>
        <p:txBody>
          <a:bodyPr/>
          <a:lstStyle/>
          <a:p>
            <a:endParaRPr lang="en-US"/>
          </a:p>
        </p:txBody>
      </p:sp>
      <p:sp>
        <p:nvSpPr>
          <p:cNvPr id="8" name="Rectangle 7">
            <a:extLst>
              <a:ext uri="{FF2B5EF4-FFF2-40B4-BE49-F238E27FC236}">
                <a16:creationId xmlns:a16="http://schemas.microsoft.com/office/drawing/2014/main" id="{E14F9E8C-4DC4-4D9C-8D7C-D6FA48A6524D}"/>
              </a:ext>
            </a:extLst>
          </p:cNvPr>
          <p:cNvSpPr>
            <a:spLocks noGrp="1"/>
          </p:cNvSpPr>
          <p:nvPr/>
        </p:nvSpPr>
        <p:spPr>
          <a:xfrm>
            <a:off x="942975" y="2466975"/>
            <a:ext cx="2019300" cy="180975"/>
          </a:xfrm>
          <a:prstGeom prst="rect">
            <a:avLst/>
          </a:prstGeom>
          <a:noFill/>
          <a:ln w="0">
            <a:noFill/>
          </a:ln>
        </p:spPr>
        <p:txBody>
          <a:bodyPr>
            <a:noAutofit/>
          </a:bodyPr>
          <a:lstStyle/>
          <a:p>
            <a:pPr>
              <a:defRPr sz="975" b="0">
                <a:solidFill>
                  <a:srgbClr val="2F6F62"/>
                </a:solidFill>
                <a:latin typeface="JetBrains Mono"/>
                <a:ea typeface="JetBrains Mono"/>
                <a:cs typeface="JetBrains Mono"/>
              </a:defRPr>
            </a:pPr>
            <a:r>
              <a:rPr sz="975" b="0">
                <a:solidFill>
                  <a:srgbClr val="2F6F62"/>
                </a:solidFill>
                <a:latin typeface="JetBrains Mono"/>
                <a:ea typeface="JetBrains Mono"/>
                <a:cs typeface="JetBrains Mono"/>
              </a:rPr>
              <a:t>INPUT</a:t>
            </a:r>
          </a:p>
        </p:txBody>
      </p:sp>
      <p:sp>
        <p:nvSpPr>
          <p:cNvPr id="9" name="Rectangle 8">
            <a:extLst>
              <a:ext uri="{FF2B5EF4-FFF2-40B4-BE49-F238E27FC236}">
                <a16:creationId xmlns:a16="http://schemas.microsoft.com/office/drawing/2014/main" id="{A9481EE7-4637-4654-AE98-B83F5697DD3B}"/>
              </a:ext>
            </a:extLst>
          </p:cNvPr>
          <p:cNvSpPr>
            <a:spLocks noGrp="1"/>
          </p:cNvSpPr>
          <p:nvPr/>
        </p:nvSpPr>
        <p:spPr>
          <a:xfrm>
            <a:off x="942975" y="2686050"/>
            <a:ext cx="2019300" cy="276225"/>
          </a:xfrm>
          <a:prstGeom prst="rect">
            <a:avLst/>
          </a:prstGeom>
          <a:noFill/>
          <a:ln w="0">
            <a:noFill/>
          </a:ln>
        </p:spPr>
        <p:txBody>
          <a:bodyPr>
            <a:noAutofit/>
          </a:bodyPr>
          <a:lstStyle/>
          <a:p>
            <a:pPr>
              <a:defRPr sz="1575" b="1">
                <a:solidFill>
                  <a:srgbClr val="16202B"/>
                </a:solidFill>
                <a:latin typeface="IBM Plex Sans"/>
                <a:ea typeface="IBM Plex Sans"/>
                <a:cs typeface="IBM Plex Sans"/>
              </a:defRPr>
            </a:pPr>
            <a:r>
              <a:rPr sz="1575" b="1">
                <a:solidFill>
                  <a:srgbClr val="16202B"/>
                </a:solidFill>
                <a:latin typeface="IBM Plex Sans"/>
                <a:ea typeface="IBM Plex Sans"/>
                <a:cs typeface="IBM Plex Sans"/>
              </a:rPr>
              <a:t>Question</a:t>
            </a:r>
          </a:p>
        </p:txBody>
      </p:sp>
      <p:sp>
        <p:nvSpPr>
          <p:cNvPr id="10" name="Rectangle 9">
            <a:extLst>
              <a:ext uri="{FF2B5EF4-FFF2-40B4-BE49-F238E27FC236}">
                <a16:creationId xmlns:a16="http://schemas.microsoft.com/office/drawing/2014/main" id="{447E3ACE-88FD-44AA-9D29-7C450F571325}"/>
              </a:ext>
            </a:extLst>
          </p:cNvPr>
          <p:cNvSpPr>
            <a:spLocks noGrp="1"/>
          </p:cNvSpPr>
          <p:nvPr/>
        </p:nvSpPr>
        <p:spPr>
          <a:xfrm>
            <a:off x="942975" y="2981325"/>
            <a:ext cx="2019300" cy="361950"/>
          </a:xfrm>
          <a:prstGeom prst="rect">
            <a:avLst/>
          </a:prstGeom>
          <a:noFill/>
          <a:ln w="0">
            <a:noFill/>
          </a:ln>
        </p:spPr>
        <p:txBody>
          <a:bodyPr>
            <a:noAutofit/>
          </a:bodyPr>
          <a:lstStyle/>
          <a:p>
            <a:pPr>
              <a:defRPr sz="1200" b="0">
                <a:solidFill>
                  <a:srgbClr val="5A6672"/>
                </a:solidFill>
                <a:latin typeface="IBM Plex Sans"/>
                <a:ea typeface="IBM Plex Sans"/>
                <a:cs typeface="IBM Plex Sans"/>
              </a:defRPr>
            </a:pPr>
            <a:r>
              <a:rPr sz="1200" b="0">
                <a:solidFill>
                  <a:srgbClr val="5A6672"/>
                </a:solidFill>
                <a:latin typeface="IBM Plex Sans"/>
                <a:ea typeface="IBM Plex Sans"/>
                <a:cs typeface="IBM Plex Sans"/>
              </a:rPr>
              <a:t>“Why is creatinine rising?”</a:t>
            </a:r>
          </a:p>
        </p:txBody>
      </p:sp>
      <p:sp>
        <p:nvSpPr>
          <p:cNvPr id="11" name="Rounded Rectangle 10">
            <a:extLst>
              <a:ext uri="{FF2B5EF4-FFF2-40B4-BE49-F238E27FC236}">
                <a16:creationId xmlns:a16="http://schemas.microsoft.com/office/drawing/2014/main" id="{F9AC6C21-559C-40C3-B376-6F6328A8FF90}"/>
              </a:ext>
            </a:extLst>
          </p:cNvPr>
          <p:cNvSpPr>
            <a:spLocks noGrp="1"/>
          </p:cNvSpPr>
          <p:nvPr/>
        </p:nvSpPr>
        <p:spPr>
          <a:xfrm>
            <a:off x="3571875" y="2371725"/>
            <a:ext cx="2286000" cy="971550"/>
          </a:xfrm>
          <a:prstGeom prst="roundRect">
            <a:avLst>
              <a:gd name="adj" fmla="val 6863"/>
            </a:avLst>
          </a:prstGeom>
          <a:solidFill>
            <a:srgbClr val="FFF6F1"/>
          </a:solidFill>
          <a:ln w="9525">
            <a:solidFill>
              <a:srgbClr val="E8C7B4"/>
            </a:solidFill>
          </a:ln>
        </p:spPr>
        <p:txBody>
          <a:bodyPr/>
          <a:lstStyle/>
          <a:p>
            <a:endParaRPr lang="en-US"/>
          </a:p>
        </p:txBody>
      </p:sp>
      <p:sp>
        <p:nvSpPr>
          <p:cNvPr id="12" name="Rectangle 11">
            <a:extLst>
              <a:ext uri="{FF2B5EF4-FFF2-40B4-BE49-F238E27FC236}">
                <a16:creationId xmlns:a16="http://schemas.microsoft.com/office/drawing/2014/main" id="{87B0A99E-6389-40A7-A996-C2003033C1FB}"/>
              </a:ext>
            </a:extLst>
          </p:cNvPr>
          <p:cNvSpPr>
            <a:spLocks noGrp="1"/>
          </p:cNvSpPr>
          <p:nvPr/>
        </p:nvSpPr>
        <p:spPr>
          <a:xfrm>
            <a:off x="3705225" y="2466975"/>
            <a:ext cx="2019300" cy="180975"/>
          </a:xfrm>
          <a:prstGeom prst="rect">
            <a:avLst/>
          </a:prstGeom>
          <a:noFill/>
          <a:ln w="0">
            <a:noFill/>
          </a:ln>
        </p:spPr>
        <p:txBody>
          <a:bodyPr>
            <a:noAutofit/>
          </a:bodyPr>
          <a:lstStyle/>
          <a:p>
            <a:pPr>
              <a:defRPr sz="975" b="0">
                <a:solidFill>
                  <a:srgbClr val="B4552D"/>
                </a:solidFill>
                <a:latin typeface="JetBrains Mono"/>
                <a:ea typeface="JetBrains Mono"/>
                <a:cs typeface="JetBrains Mono"/>
              </a:defRPr>
            </a:pPr>
            <a:r>
              <a:rPr sz="975" b="0">
                <a:solidFill>
                  <a:srgbClr val="B4552D"/>
                </a:solidFill>
                <a:latin typeface="JetBrains Mono"/>
                <a:ea typeface="JetBrains Mono"/>
                <a:cs typeface="JetBrains Mono"/>
              </a:rPr>
              <a:t>LLM 1</a:t>
            </a:r>
          </a:p>
        </p:txBody>
      </p:sp>
      <p:sp>
        <p:nvSpPr>
          <p:cNvPr id="13" name="Rectangle 12">
            <a:extLst>
              <a:ext uri="{FF2B5EF4-FFF2-40B4-BE49-F238E27FC236}">
                <a16:creationId xmlns:a16="http://schemas.microsoft.com/office/drawing/2014/main" id="{7A36B6ED-7C84-4286-8BAA-CFF5CC7FBFED}"/>
              </a:ext>
            </a:extLst>
          </p:cNvPr>
          <p:cNvSpPr>
            <a:spLocks noGrp="1"/>
          </p:cNvSpPr>
          <p:nvPr/>
        </p:nvSpPr>
        <p:spPr>
          <a:xfrm>
            <a:off x="3705225" y="2686050"/>
            <a:ext cx="2019300" cy="276225"/>
          </a:xfrm>
          <a:prstGeom prst="rect">
            <a:avLst/>
          </a:prstGeom>
          <a:noFill/>
          <a:ln w="0">
            <a:noFill/>
          </a:ln>
        </p:spPr>
        <p:txBody>
          <a:bodyPr>
            <a:noAutofit/>
          </a:bodyPr>
          <a:lstStyle/>
          <a:p>
            <a:pPr>
              <a:defRPr sz="1575" b="1">
                <a:solidFill>
                  <a:srgbClr val="16202B"/>
                </a:solidFill>
                <a:latin typeface="IBM Plex Sans"/>
                <a:ea typeface="IBM Plex Sans"/>
                <a:cs typeface="IBM Plex Sans"/>
              </a:defRPr>
            </a:pPr>
            <a:r>
              <a:rPr sz="1575" b="1">
                <a:solidFill>
                  <a:srgbClr val="16202B"/>
                </a:solidFill>
                <a:latin typeface="IBM Plex Sans"/>
                <a:ea typeface="IBM Plex Sans"/>
                <a:cs typeface="IBM Plex Sans"/>
              </a:rPr>
              <a:t>Interpretation</a:t>
            </a:r>
          </a:p>
        </p:txBody>
      </p:sp>
      <p:sp>
        <p:nvSpPr>
          <p:cNvPr id="14" name="Rectangle 13">
            <a:extLst>
              <a:ext uri="{FF2B5EF4-FFF2-40B4-BE49-F238E27FC236}">
                <a16:creationId xmlns:a16="http://schemas.microsoft.com/office/drawing/2014/main" id="{185C9E4D-0FD3-4228-89C9-616EDF994526}"/>
              </a:ext>
            </a:extLst>
          </p:cNvPr>
          <p:cNvSpPr>
            <a:spLocks noGrp="1"/>
          </p:cNvSpPr>
          <p:nvPr/>
        </p:nvSpPr>
        <p:spPr>
          <a:xfrm>
            <a:off x="3705225" y="2981325"/>
            <a:ext cx="2019300" cy="361950"/>
          </a:xfrm>
          <a:prstGeom prst="rect">
            <a:avLst/>
          </a:prstGeom>
          <a:noFill/>
          <a:ln w="0">
            <a:noFill/>
          </a:ln>
        </p:spPr>
        <p:txBody>
          <a:bodyPr>
            <a:noAutofit/>
          </a:bodyPr>
          <a:lstStyle/>
          <a:p>
            <a:pPr>
              <a:defRPr sz="1200" b="0">
                <a:solidFill>
                  <a:srgbClr val="5A6672"/>
                </a:solidFill>
                <a:latin typeface="IBM Plex Sans"/>
                <a:ea typeface="IBM Plex Sans"/>
                <a:cs typeface="IBM Plex Sans"/>
              </a:defRPr>
            </a:pPr>
            <a:r>
              <a:rPr sz="1200" b="0">
                <a:solidFill>
                  <a:srgbClr val="5A6672"/>
                </a:solidFill>
                <a:latin typeface="IBM Plex Sans"/>
                <a:ea typeface="IBM Plex Sans"/>
                <a:cs typeface="IBM Plex Sans"/>
              </a:rPr>
              <a:t>Navigate the COOL graph</a:t>
            </a:r>
          </a:p>
        </p:txBody>
      </p:sp>
      <p:sp>
        <p:nvSpPr>
          <p:cNvPr id="15" name="Rounded Rectangle 14">
            <a:extLst>
              <a:ext uri="{FF2B5EF4-FFF2-40B4-BE49-F238E27FC236}">
                <a16:creationId xmlns:a16="http://schemas.microsoft.com/office/drawing/2014/main" id="{C01B4BBB-1B58-4B37-807C-91AB62543550}"/>
              </a:ext>
            </a:extLst>
          </p:cNvPr>
          <p:cNvSpPr>
            <a:spLocks noGrp="1"/>
          </p:cNvSpPr>
          <p:nvPr/>
        </p:nvSpPr>
        <p:spPr>
          <a:xfrm>
            <a:off x="6334125" y="2371725"/>
            <a:ext cx="2286000" cy="971550"/>
          </a:xfrm>
          <a:prstGeom prst="roundRect">
            <a:avLst>
              <a:gd name="adj" fmla="val 6863"/>
            </a:avLst>
          </a:prstGeom>
          <a:solidFill>
            <a:srgbClr val="FFFFFF"/>
          </a:solidFill>
          <a:ln w="9525">
            <a:solidFill>
              <a:srgbClr val="DDE2DE"/>
            </a:solidFill>
          </a:ln>
        </p:spPr>
        <p:txBody>
          <a:bodyPr/>
          <a:lstStyle/>
          <a:p>
            <a:endParaRPr lang="en-US"/>
          </a:p>
        </p:txBody>
      </p:sp>
      <p:sp>
        <p:nvSpPr>
          <p:cNvPr id="16" name="Rectangle 15">
            <a:extLst>
              <a:ext uri="{FF2B5EF4-FFF2-40B4-BE49-F238E27FC236}">
                <a16:creationId xmlns:a16="http://schemas.microsoft.com/office/drawing/2014/main" id="{FBC0D183-369E-45AA-BA52-0D0791CB3948}"/>
              </a:ext>
            </a:extLst>
          </p:cNvPr>
          <p:cNvSpPr>
            <a:spLocks noGrp="1"/>
          </p:cNvSpPr>
          <p:nvPr/>
        </p:nvSpPr>
        <p:spPr>
          <a:xfrm>
            <a:off x="6467475" y="2466975"/>
            <a:ext cx="2019300" cy="180975"/>
          </a:xfrm>
          <a:prstGeom prst="rect">
            <a:avLst/>
          </a:prstGeom>
          <a:noFill/>
          <a:ln w="0">
            <a:noFill/>
          </a:ln>
        </p:spPr>
        <p:txBody>
          <a:bodyPr>
            <a:noAutofit/>
          </a:bodyPr>
          <a:lstStyle/>
          <a:p>
            <a:pPr>
              <a:defRPr sz="975" b="0">
                <a:solidFill>
                  <a:srgbClr val="2F6F62"/>
                </a:solidFill>
                <a:latin typeface="JetBrains Mono"/>
                <a:ea typeface="JetBrains Mono"/>
                <a:cs typeface="JetBrains Mono"/>
              </a:defRPr>
            </a:pPr>
            <a:r>
              <a:rPr sz="975" b="0">
                <a:solidFill>
                  <a:srgbClr val="2F6F62"/>
                </a:solidFill>
                <a:latin typeface="JetBrains Mono"/>
                <a:ea typeface="JetBrains Mono"/>
                <a:cs typeface="JetBrains Mono"/>
              </a:rPr>
              <a:t>CODE</a:t>
            </a:r>
          </a:p>
        </p:txBody>
      </p:sp>
      <p:sp>
        <p:nvSpPr>
          <p:cNvPr id="17" name="Rectangle 16">
            <a:extLst>
              <a:ext uri="{FF2B5EF4-FFF2-40B4-BE49-F238E27FC236}">
                <a16:creationId xmlns:a16="http://schemas.microsoft.com/office/drawing/2014/main" id="{9B547EEF-3BD2-4CDB-99FA-204C18E5610D}"/>
              </a:ext>
            </a:extLst>
          </p:cNvPr>
          <p:cNvSpPr>
            <a:spLocks noGrp="1"/>
          </p:cNvSpPr>
          <p:nvPr/>
        </p:nvSpPr>
        <p:spPr>
          <a:xfrm>
            <a:off x="6467475" y="2686050"/>
            <a:ext cx="2019300" cy="276225"/>
          </a:xfrm>
          <a:prstGeom prst="rect">
            <a:avLst/>
          </a:prstGeom>
          <a:noFill/>
          <a:ln w="0">
            <a:noFill/>
          </a:ln>
        </p:spPr>
        <p:txBody>
          <a:bodyPr>
            <a:noAutofit/>
          </a:bodyPr>
          <a:lstStyle/>
          <a:p>
            <a:pPr>
              <a:defRPr sz="1275" b="1">
                <a:solidFill>
                  <a:srgbClr val="16202B"/>
                </a:solidFill>
                <a:latin typeface="IBM Plex Sans"/>
                <a:ea typeface="IBM Plex Sans"/>
                <a:cs typeface="IBM Plex Sans"/>
              </a:defRPr>
            </a:pPr>
            <a:r>
              <a:rPr sz="1275" b="1">
                <a:solidFill>
                  <a:srgbClr val="16202B"/>
                </a:solidFill>
                <a:latin typeface="IBM Plex Sans"/>
                <a:ea typeface="IBM Plex Sans"/>
                <a:cs typeface="IBM Plex Sans"/>
              </a:rPr>
              <a:t>Information requirements</a:t>
            </a:r>
          </a:p>
        </p:txBody>
      </p:sp>
      <p:sp>
        <p:nvSpPr>
          <p:cNvPr id="18" name="Rectangle 17">
            <a:extLst>
              <a:ext uri="{FF2B5EF4-FFF2-40B4-BE49-F238E27FC236}">
                <a16:creationId xmlns:a16="http://schemas.microsoft.com/office/drawing/2014/main" id="{E707E69D-EE0A-45C9-9BCD-DA2D92E89840}"/>
              </a:ext>
            </a:extLst>
          </p:cNvPr>
          <p:cNvSpPr>
            <a:spLocks noGrp="1"/>
          </p:cNvSpPr>
          <p:nvPr/>
        </p:nvSpPr>
        <p:spPr>
          <a:xfrm>
            <a:off x="6467475" y="3105150"/>
            <a:ext cx="2019300" cy="238125"/>
          </a:xfrm>
          <a:prstGeom prst="rect">
            <a:avLst/>
          </a:prstGeom>
          <a:noFill/>
          <a:ln w="0">
            <a:noFill/>
          </a:ln>
        </p:spPr>
        <p:txBody>
          <a:bodyPr>
            <a:noAutofit/>
          </a:bodyPr>
          <a:lstStyle/>
          <a:p>
            <a:pPr>
              <a:defRPr sz="1050" b="0">
                <a:solidFill>
                  <a:srgbClr val="5A6672"/>
                </a:solidFill>
                <a:latin typeface="IBM Plex Sans"/>
                <a:ea typeface="IBM Plex Sans"/>
                <a:cs typeface="IBM Plex Sans"/>
              </a:defRPr>
            </a:pPr>
            <a:r>
              <a:rPr sz="1050" b="0">
                <a:solidFill>
                  <a:srgbClr val="5A6672"/>
                </a:solidFill>
                <a:latin typeface="IBM Plex Sans"/>
                <a:ea typeface="IBM Plex Sans"/>
                <a:cs typeface="IBM Plex Sans"/>
              </a:rPr>
              <a:t>Concept, purpose, time</a:t>
            </a:r>
          </a:p>
        </p:txBody>
      </p:sp>
      <p:sp>
        <p:nvSpPr>
          <p:cNvPr id="19" name="Rounded Rectangle 18">
            <a:extLst>
              <a:ext uri="{FF2B5EF4-FFF2-40B4-BE49-F238E27FC236}">
                <a16:creationId xmlns:a16="http://schemas.microsoft.com/office/drawing/2014/main" id="{2A2506FD-6B65-4C42-BEEC-5FE1625FE13A}"/>
              </a:ext>
            </a:extLst>
          </p:cNvPr>
          <p:cNvSpPr>
            <a:spLocks noGrp="1"/>
          </p:cNvSpPr>
          <p:nvPr/>
        </p:nvSpPr>
        <p:spPr>
          <a:xfrm>
            <a:off x="9096375" y="2371725"/>
            <a:ext cx="2286000" cy="971550"/>
          </a:xfrm>
          <a:prstGeom prst="roundRect">
            <a:avLst>
              <a:gd name="adj" fmla="val 6863"/>
            </a:avLst>
          </a:prstGeom>
          <a:solidFill>
            <a:srgbClr val="FFFFFF"/>
          </a:solidFill>
          <a:ln w="9525">
            <a:solidFill>
              <a:srgbClr val="DDE2DE"/>
            </a:solidFill>
          </a:ln>
        </p:spPr>
        <p:txBody>
          <a:bodyPr/>
          <a:lstStyle/>
          <a:p>
            <a:endParaRPr lang="en-US"/>
          </a:p>
        </p:txBody>
      </p:sp>
      <p:sp>
        <p:nvSpPr>
          <p:cNvPr id="20" name="Rectangle 19">
            <a:extLst>
              <a:ext uri="{FF2B5EF4-FFF2-40B4-BE49-F238E27FC236}">
                <a16:creationId xmlns:a16="http://schemas.microsoft.com/office/drawing/2014/main" id="{B33F490D-EBF6-4C68-AE11-404E1D46EE06}"/>
              </a:ext>
            </a:extLst>
          </p:cNvPr>
          <p:cNvSpPr>
            <a:spLocks noGrp="1"/>
          </p:cNvSpPr>
          <p:nvPr/>
        </p:nvSpPr>
        <p:spPr>
          <a:xfrm>
            <a:off x="9229725" y="2466975"/>
            <a:ext cx="2019300" cy="180975"/>
          </a:xfrm>
          <a:prstGeom prst="rect">
            <a:avLst/>
          </a:prstGeom>
          <a:noFill/>
          <a:ln w="0">
            <a:noFill/>
          </a:ln>
        </p:spPr>
        <p:txBody>
          <a:bodyPr>
            <a:noAutofit/>
          </a:bodyPr>
          <a:lstStyle/>
          <a:p>
            <a:pPr>
              <a:defRPr sz="975" b="0">
                <a:solidFill>
                  <a:srgbClr val="2F6F62"/>
                </a:solidFill>
                <a:latin typeface="JetBrains Mono"/>
                <a:ea typeface="JetBrains Mono"/>
                <a:cs typeface="JetBrains Mono"/>
              </a:defRPr>
            </a:pPr>
            <a:r>
              <a:rPr sz="975" b="0">
                <a:solidFill>
                  <a:srgbClr val="2F6F62"/>
                </a:solidFill>
                <a:latin typeface="JetBrains Mono"/>
                <a:ea typeface="JetBrains Mono"/>
                <a:cs typeface="JetBrains Mono"/>
              </a:rPr>
              <a:t>CODE</a:t>
            </a:r>
          </a:p>
        </p:txBody>
      </p:sp>
      <p:sp>
        <p:nvSpPr>
          <p:cNvPr id="21" name="Rectangle 20">
            <a:extLst>
              <a:ext uri="{FF2B5EF4-FFF2-40B4-BE49-F238E27FC236}">
                <a16:creationId xmlns:a16="http://schemas.microsoft.com/office/drawing/2014/main" id="{C71C7FD1-1A77-4166-9B5D-BAA6D9AC216F}"/>
              </a:ext>
            </a:extLst>
          </p:cNvPr>
          <p:cNvSpPr>
            <a:spLocks noGrp="1"/>
          </p:cNvSpPr>
          <p:nvPr/>
        </p:nvSpPr>
        <p:spPr>
          <a:xfrm>
            <a:off x="9229725" y="2686050"/>
            <a:ext cx="2019300" cy="276225"/>
          </a:xfrm>
          <a:prstGeom prst="rect">
            <a:avLst/>
          </a:prstGeom>
          <a:noFill/>
          <a:ln w="0">
            <a:noFill/>
          </a:ln>
        </p:spPr>
        <p:txBody>
          <a:bodyPr>
            <a:noAutofit/>
          </a:bodyPr>
          <a:lstStyle/>
          <a:p>
            <a:pPr>
              <a:defRPr sz="1575" b="1">
                <a:solidFill>
                  <a:srgbClr val="16202B"/>
                </a:solidFill>
                <a:latin typeface="IBM Plex Sans"/>
                <a:ea typeface="IBM Plex Sans"/>
                <a:cs typeface="IBM Plex Sans"/>
              </a:defRPr>
            </a:pPr>
            <a:r>
              <a:rPr sz="1575" b="1">
                <a:solidFill>
                  <a:srgbClr val="16202B"/>
                </a:solidFill>
                <a:latin typeface="IBM Plex Sans"/>
                <a:ea typeface="IBM Plex Sans"/>
                <a:cs typeface="IBM Plex Sans"/>
              </a:rPr>
              <a:t>CQL over COOL</a:t>
            </a:r>
          </a:p>
        </p:txBody>
      </p:sp>
      <p:sp>
        <p:nvSpPr>
          <p:cNvPr id="22" name="Rectangle 21">
            <a:extLst>
              <a:ext uri="{FF2B5EF4-FFF2-40B4-BE49-F238E27FC236}">
                <a16:creationId xmlns:a16="http://schemas.microsoft.com/office/drawing/2014/main" id="{8FFC27BE-DAF7-4BB4-A35E-2DB68D0F1882}"/>
              </a:ext>
            </a:extLst>
          </p:cNvPr>
          <p:cNvSpPr>
            <a:spLocks noGrp="1"/>
          </p:cNvSpPr>
          <p:nvPr/>
        </p:nvSpPr>
        <p:spPr>
          <a:xfrm>
            <a:off x="9229725" y="2981325"/>
            <a:ext cx="2019300" cy="361950"/>
          </a:xfrm>
          <a:prstGeom prst="rect">
            <a:avLst/>
          </a:prstGeom>
          <a:noFill/>
          <a:ln w="0">
            <a:noFill/>
          </a:ln>
        </p:spPr>
        <p:txBody>
          <a:bodyPr>
            <a:noAutofit/>
          </a:bodyPr>
          <a:lstStyle/>
          <a:p>
            <a:pPr>
              <a:defRPr sz="1200" b="0">
                <a:solidFill>
                  <a:srgbClr val="5A6672"/>
                </a:solidFill>
                <a:latin typeface="IBM Plex Sans"/>
                <a:ea typeface="IBM Plex Sans"/>
                <a:cs typeface="IBM Plex Sans"/>
              </a:defRPr>
            </a:pPr>
            <a:r>
              <a:rPr sz="1200" b="0">
                <a:solidFill>
                  <a:srgbClr val="5A6672"/>
                </a:solidFill>
                <a:latin typeface="IBM Plex Sans"/>
                <a:ea typeface="IBM Plex Sans"/>
                <a:cs typeface="IBM Plex Sans"/>
              </a:rPr>
              <a:t>[SerumCreatinine]</a:t>
            </a:r>
          </a:p>
        </p:txBody>
      </p:sp>
      <p:cxnSp>
        <p:nvCxnSpPr>
          <p:cNvPr id="85" name="Straight Arrow Connector 84"/>
          <p:cNvCxnSpPr>
            <a:stCxn id="7" idx="3"/>
            <a:endCxn id="11" idx="1"/>
          </p:cNvCxnSpPr>
          <p:nvPr/>
        </p:nvCxnSpPr>
        <p:spPr>
          <a:xfrm>
            <a:off x="3095625" y="2857500"/>
            <a:ext cx="476250" cy="0"/>
          </a:xfrm>
          <a:prstGeom prst="straightConnector1">
            <a:avLst/>
          </a:prstGeom>
          <a:ln w="19050">
            <a:solidFill>
              <a:srgbClr val="2F6F62"/>
            </a:solidFill>
            <a:tailEnd type="triangle" w="sm" len="sm"/>
          </a:ln>
        </p:spPr>
      </p:cxnSp>
      <p:cxnSp>
        <p:nvCxnSpPr>
          <p:cNvPr id="86" name="Straight Arrow Connector 85"/>
          <p:cNvCxnSpPr>
            <a:stCxn id="11" idx="3"/>
            <a:endCxn id="15" idx="1"/>
          </p:cNvCxnSpPr>
          <p:nvPr/>
        </p:nvCxnSpPr>
        <p:spPr>
          <a:xfrm>
            <a:off x="5857875" y="2857500"/>
            <a:ext cx="476250" cy="0"/>
          </a:xfrm>
          <a:prstGeom prst="straightConnector1">
            <a:avLst/>
          </a:prstGeom>
          <a:ln w="19050">
            <a:solidFill>
              <a:srgbClr val="2F6F62"/>
            </a:solidFill>
            <a:tailEnd type="triangle" w="sm" len="sm"/>
          </a:ln>
        </p:spPr>
      </p:cxnSp>
      <p:cxnSp>
        <p:nvCxnSpPr>
          <p:cNvPr id="87" name="Straight Arrow Connector 86"/>
          <p:cNvCxnSpPr>
            <a:stCxn id="15" idx="3"/>
            <a:endCxn id="19" idx="1"/>
          </p:cNvCxnSpPr>
          <p:nvPr/>
        </p:nvCxnSpPr>
        <p:spPr>
          <a:xfrm>
            <a:off x="8620125" y="2857500"/>
            <a:ext cx="476250" cy="0"/>
          </a:xfrm>
          <a:prstGeom prst="straightConnector1">
            <a:avLst/>
          </a:prstGeom>
          <a:ln w="19050">
            <a:solidFill>
              <a:srgbClr val="2F6F62"/>
            </a:solidFill>
            <a:tailEnd type="triangle" w="sm" len="sm"/>
          </a:ln>
        </p:spPr>
      </p:cxnSp>
      <p:sp>
        <p:nvSpPr>
          <p:cNvPr id="26" name="Rectangle 25">
            <a:extLst>
              <a:ext uri="{FF2B5EF4-FFF2-40B4-BE49-F238E27FC236}">
                <a16:creationId xmlns:a16="http://schemas.microsoft.com/office/drawing/2014/main" id="{3440A126-E9C0-4454-9ADB-C0B33E424062}"/>
              </a:ext>
            </a:extLst>
          </p:cNvPr>
          <p:cNvSpPr>
            <a:spLocks noGrp="1"/>
          </p:cNvSpPr>
          <p:nvPr/>
        </p:nvSpPr>
        <p:spPr>
          <a:xfrm>
            <a:off x="809625" y="3590925"/>
            <a:ext cx="10572750" cy="12383"/>
          </a:xfrm>
          <a:prstGeom prst="rect">
            <a:avLst/>
          </a:prstGeom>
          <a:solidFill>
            <a:srgbClr val="2F6F62"/>
          </a:solidFill>
          <a:ln w="0">
            <a:noFill/>
          </a:ln>
        </p:spPr>
        <p:txBody>
          <a:bodyPr/>
          <a:lstStyle/>
          <a:p>
            <a:endParaRPr lang="en-US"/>
          </a:p>
        </p:txBody>
      </p:sp>
      <p:sp>
        <p:nvSpPr>
          <p:cNvPr id="27" name="Rectangle 26">
            <a:extLst>
              <a:ext uri="{FF2B5EF4-FFF2-40B4-BE49-F238E27FC236}">
                <a16:creationId xmlns:a16="http://schemas.microsoft.com/office/drawing/2014/main" id="{2C55F088-7F9C-44C6-A233-30A9BF3C32D9}"/>
              </a:ext>
            </a:extLst>
          </p:cNvPr>
          <p:cNvSpPr>
            <a:spLocks noGrp="1"/>
          </p:cNvSpPr>
          <p:nvPr/>
        </p:nvSpPr>
        <p:spPr>
          <a:xfrm>
            <a:off x="1047750" y="3476625"/>
            <a:ext cx="5715000" cy="238125"/>
          </a:xfrm>
          <a:prstGeom prst="rect">
            <a:avLst/>
          </a:prstGeom>
          <a:solidFill>
            <a:srgbClr val="F7F8F6"/>
          </a:solidFill>
          <a:ln w="0">
            <a:noFill/>
          </a:ln>
        </p:spPr>
        <p:txBody>
          <a:bodyPr/>
          <a:lstStyle/>
          <a:p>
            <a:endParaRPr lang="en-US"/>
          </a:p>
        </p:txBody>
      </p:sp>
      <p:sp>
        <p:nvSpPr>
          <p:cNvPr id="28" name="Rectangle 27">
            <a:extLst>
              <a:ext uri="{FF2B5EF4-FFF2-40B4-BE49-F238E27FC236}">
                <a16:creationId xmlns:a16="http://schemas.microsoft.com/office/drawing/2014/main" id="{4A42614D-B2AE-4462-9108-3514427AEF3A}"/>
              </a:ext>
            </a:extLst>
          </p:cNvPr>
          <p:cNvSpPr>
            <a:spLocks noGrp="1"/>
          </p:cNvSpPr>
          <p:nvPr/>
        </p:nvSpPr>
        <p:spPr>
          <a:xfrm>
            <a:off x="1143000" y="3476625"/>
            <a:ext cx="5524500" cy="238125"/>
          </a:xfrm>
          <a:prstGeom prst="rect">
            <a:avLst/>
          </a:prstGeom>
          <a:noFill/>
          <a:ln w="0">
            <a:noFill/>
          </a:ln>
        </p:spPr>
        <p:txBody>
          <a:bodyPr>
            <a:noAutofit/>
          </a:bodyPr>
          <a:lstStyle/>
          <a:p>
            <a:pPr>
              <a:defRPr sz="1125" b="0">
                <a:solidFill>
                  <a:srgbClr val="2F6F62"/>
                </a:solidFill>
                <a:latin typeface="JetBrains Mono"/>
                <a:ea typeface="JetBrains Mono"/>
                <a:cs typeface="JetBrains Mono"/>
              </a:defRPr>
            </a:pPr>
            <a:r>
              <a:rPr sz="1125" b="0">
                <a:solidFill>
                  <a:srgbClr val="2F6F62"/>
                </a:solidFill>
                <a:latin typeface="JetBrains Mono"/>
                <a:ea typeface="JetBrains Mono"/>
                <a:cs typeface="JetBrains Mono"/>
              </a:rPr>
              <a:t>LOGICAL–PHYSICAL BOUNDARY</a:t>
            </a:r>
          </a:p>
        </p:txBody>
      </p:sp>
      <p:sp>
        <p:nvSpPr>
          <p:cNvPr id="29" name="Rounded Rectangle 28">
            <a:extLst>
              <a:ext uri="{FF2B5EF4-FFF2-40B4-BE49-F238E27FC236}">
                <a16:creationId xmlns:a16="http://schemas.microsoft.com/office/drawing/2014/main" id="{253D2611-525C-44C5-A4FB-AA85D036791F}"/>
              </a:ext>
            </a:extLst>
          </p:cNvPr>
          <p:cNvSpPr>
            <a:spLocks noGrp="1"/>
          </p:cNvSpPr>
          <p:nvPr/>
        </p:nvSpPr>
        <p:spPr>
          <a:xfrm>
            <a:off x="8048625" y="3857625"/>
            <a:ext cx="3333750" cy="952500"/>
          </a:xfrm>
          <a:prstGeom prst="roundRect">
            <a:avLst>
              <a:gd name="adj" fmla="val 7000"/>
            </a:avLst>
          </a:prstGeom>
          <a:solidFill>
            <a:srgbClr val="FFFFFF"/>
          </a:solidFill>
          <a:ln w="9525">
            <a:solidFill>
              <a:srgbClr val="DDE2DE"/>
            </a:solidFill>
          </a:ln>
        </p:spPr>
        <p:txBody>
          <a:bodyPr/>
          <a:lstStyle/>
          <a:p>
            <a:endParaRPr lang="en-US"/>
          </a:p>
        </p:txBody>
      </p:sp>
      <p:sp>
        <p:nvSpPr>
          <p:cNvPr id="30" name="Rectangle 29">
            <a:extLst>
              <a:ext uri="{FF2B5EF4-FFF2-40B4-BE49-F238E27FC236}">
                <a16:creationId xmlns:a16="http://schemas.microsoft.com/office/drawing/2014/main" id="{69EE040D-DC0D-42D4-8AED-E07108289976}"/>
              </a:ext>
            </a:extLst>
          </p:cNvPr>
          <p:cNvSpPr>
            <a:spLocks noGrp="1"/>
          </p:cNvSpPr>
          <p:nvPr/>
        </p:nvSpPr>
        <p:spPr>
          <a:xfrm>
            <a:off x="8181975" y="3952875"/>
            <a:ext cx="3067050" cy="180975"/>
          </a:xfrm>
          <a:prstGeom prst="rect">
            <a:avLst/>
          </a:prstGeom>
          <a:noFill/>
          <a:ln w="0">
            <a:noFill/>
          </a:ln>
        </p:spPr>
        <p:txBody>
          <a:bodyPr>
            <a:noAutofit/>
          </a:bodyPr>
          <a:lstStyle/>
          <a:p>
            <a:pPr>
              <a:defRPr sz="975" b="0">
                <a:solidFill>
                  <a:srgbClr val="2F6F62"/>
                </a:solidFill>
                <a:latin typeface="JetBrains Mono"/>
                <a:ea typeface="JetBrains Mono"/>
                <a:cs typeface="JetBrains Mono"/>
              </a:defRPr>
            </a:pPr>
            <a:r>
              <a:rPr sz="975" b="0">
                <a:solidFill>
                  <a:srgbClr val="2F6F62"/>
                </a:solidFill>
                <a:latin typeface="JetBrains Mono"/>
                <a:ea typeface="JetBrains Mono"/>
                <a:cs typeface="JetBrains Mono"/>
              </a:rPr>
              <a:t>DETERMINISTIC CODE</a:t>
            </a:r>
          </a:p>
        </p:txBody>
      </p:sp>
      <p:sp>
        <p:nvSpPr>
          <p:cNvPr id="31" name="Rectangle 30">
            <a:extLst>
              <a:ext uri="{FF2B5EF4-FFF2-40B4-BE49-F238E27FC236}">
                <a16:creationId xmlns:a16="http://schemas.microsoft.com/office/drawing/2014/main" id="{31FC8BDC-4539-447F-BA14-F840C82C2031}"/>
              </a:ext>
            </a:extLst>
          </p:cNvPr>
          <p:cNvSpPr>
            <a:spLocks noGrp="1"/>
          </p:cNvSpPr>
          <p:nvPr/>
        </p:nvSpPr>
        <p:spPr>
          <a:xfrm>
            <a:off x="8181975" y="4171950"/>
            <a:ext cx="3067050" cy="276225"/>
          </a:xfrm>
          <a:prstGeom prst="rect">
            <a:avLst/>
          </a:prstGeom>
          <a:noFill/>
          <a:ln w="0">
            <a:noFill/>
          </a:ln>
        </p:spPr>
        <p:txBody>
          <a:bodyPr>
            <a:noAutofit/>
          </a:bodyPr>
          <a:lstStyle/>
          <a:p>
            <a:pPr>
              <a:defRPr sz="1575" b="1">
                <a:solidFill>
                  <a:srgbClr val="16202B"/>
                </a:solidFill>
                <a:latin typeface="IBM Plex Sans"/>
                <a:ea typeface="IBM Plex Sans"/>
                <a:cs typeface="IBM Plex Sans"/>
              </a:defRPr>
            </a:pPr>
            <a:r>
              <a:rPr sz="1575" b="1">
                <a:solidFill>
                  <a:srgbClr val="16202B"/>
                </a:solidFill>
                <a:latin typeface="IBM Plex Sans"/>
                <a:ea typeface="IBM Plex Sans"/>
                <a:cs typeface="IBM Plex Sans"/>
              </a:rPr>
              <a:t>Backend binding</a:t>
            </a:r>
          </a:p>
        </p:txBody>
      </p:sp>
      <p:sp>
        <p:nvSpPr>
          <p:cNvPr id="32" name="Rectangle 31">
            <a:extLst>
              <a:ext uri="{FF2B5EF4-FFF2-40B4-BE49-F238E27FC236}">
                <a16:creationId xmlns:a16="http://schemas.microsoft.com/office/drawing/2014/main" id="{116F9D8B-DA73-4140-A275-3D343236A27B}"/>
              </a:ext>
            </a:extLst>
          </p:cNvPr>
          <p:cNvSpPr>
            <a:spLocks noGrp="1"/>
          </p:cNvSpPr>
          <p:nvPr/>
        </p:nvSpPr>
        <p:spPr>
          <a:xfrm>
            <a:off x="8181975" y="4467225"/>
            <a:ext cx="3067050" cy="342900"/>
          </a:xfrm>
          <a:prstGeom prst="rect">
            <a:avLst/>
          </a:prstGeom>
          <a:noFill/>
          <a:ln w="0">
            <a:noFill/>
          </a:ln>
        </p:spPr>
        <p:txBody>
          <a:bodyPr>
            <a:noAutofit/>
          </a:bodyPr>
          <a:lstStyle/>
          <a:p>
            <a:pPr>
              <a:defRPr sz="1200" b="0">
                <a:solidFill>
                  <a:srgbClr val="5A6672"/>
                </a:solidFill>
                <a:latin typeface="IBM Plex Sans"/>
                <a:ea typeface="IBM Plex Sans"/>
                <a:cs typeface="IBM Plex Sans"/>
              </a:defRPr>
            </a:pPr>
            <a:r>
              <a:rPr sz="1200" b="0">
                <a:solidFill>
                  <a:srgbClr val="5A6672"/>
                </a:solidFill>
                <a:latin typeface="IBM Plex Sans"/>
                <a:ea typeface="IBM Plex Sans"/>
                <a:cs typeface="IBM Plex Sans"/>
              </a:rPr>
              <a:t>FHIR today; MIMIC/SQL possible</a:t>
            </a:r>
          </a:p>
        </p:txBody>
      </p:sp>
      <p:sp>
        <p:nvSpPr>
          <p:cNvPr id="33" name="Rounded Rectangle 32">
            <a:extLst>
              <a:ext uri="{FF2B5EF4-FFF2-40B4-BE49-F238E27FC236}">
                <a16:creationId xmlns:a16="http://schemas.microsoft.com/office/drawing/2014/main" id="{A11161CE-E90B-47D6-B20D-D393D73949C6}"/>
              </a:ext>
            </a:extLst>
          </p:cNvPr>
          <p:cNvSpPr>
            <a:spLocks noGrp="1"/>
          </p:cNvSpPr>
          <p:nvPr/>
        </p:nvSpPr>
        <p:spPr>
          <a:xfrm>
            <a:off x="4429125" y="3857625"/>
            <a:ext cx="3333750" cy="952500"/>
          </a:xfrm>
          <a:prstGeom prst="roundRect">
            <a:avLst>
              <a:gd name="adj" fmla="val 7000"/>
            </a:avLst>
          </a:prstGeom>
          <a:solidFill>
            <a:srgbClr val="FFFFFF"/>
          </a:solidFill>
          <a:ln w="9525">
            <a:solidFill>
              <a:srgbClr val="DDE2DE"/>
            </a:solidFill>
          </a:ln>
        </p:spPr>
        <p:txBody>
          <a:bodyPr/>
          <a:lstStyle/>
          <a:p>
            <a:endParaRPr lang="en-US"/>
          </a:p>
        </p:txBody>
      </p:sp>
      <p:sp>
        <p:nvSpPr>
          <p:cNvPr id="34" name="Rectangle 33">
            <a:extLst>
              <a:ext uri="{FF2B5EF4-FFF2-40B4-BE49-F238E27FC236}">
                <a16:creationId xmlns:a16="http://schemas.microsoft.com/office/drawing/2014/main" id="{30D63AF4-B6D1-4479-8113-7B580E7F110C}"/>
              </a:ext>
            </a:extLst>
          </p:cNvPr>
          <p:cNvSpPr>
            <a:spLocks noGrp="1"/>
          </p:cNvSpPr>
          <p:nvPr/>
        </p:nvSpPr>
        <p:spPr>
          <a:xfrm>
            <a:off x="4562475" y="3952875"/>
            <a:ext cx="3067050" cy="180975"/>
          </a:xfrm>
          <a:prstGeom prst="rect">
            <a:avLst/>
          </a:prstGeom>
          <a:noFill/>
          <a:ln w="0">
            <a:noFill/>
          </a:ln>
        </p:spPr>
        <p:txBody>
          <a:bodyPr>
            <a:noAutofit/>
          </a:bodyPr>
          <a:lstStyle/>
          <a:p>
            <a:pPr>
              <a:defRPr sz="975" b="0">
                <a:solidFill>
                  <a:srgbClr val="2F6F62"/>
                </a:solidFill>
                <a:latin typeface="JetBrains Mono"/>
                <a:ea typeface="JetBrains Mono"/>
                <a:cs typeface="JetBrains Mono"/>
              </a:defRPr>
            </a:pPr>
            <a:r>
              <a:rPr sz="975" b="0">
                <a:solidFill>
                  <a:srgbClr val="2F6F62"/>
                </a:solidFill>
                <a:latin typeface="JetBrains Mono"/>
                <a:ea typeface="JetBrains Mono"/>
                <a:cs typeface="JetBrains Mono"/>
              </a:rPr>
              <a:t>DETERMINISTIC CODE</a:t>
            </a:r>
          </a:p>
        </p:txBody>
      </p:sp>
      <p:sp>
        <p:nvSpPr>
          <p:cNvPr id="35" name="Rectangle 34">
            <a:extLst>
              <a:ext uri="{FF2B5EF4-FFF2-40B4-BE49-F238E27FC236}">
                <a16:creationId xmlns:a16="http://schemas.microsoft.com/office/drawing/2014/main" id="{4A37A132-B9EF-4263-B1AA-E4B7714C7F15}"/>
              </a:ext>
            </a:extLst>
          </p:cNvPr>
          <p:cNvSpPr>
            <a:spLocks noGrp="1"/>
          </p:cNvSpPr>
          <p:nvPr/>
        </p:nvSpPr>
        <p:spPr>
          <a:xfrm>
            <a:off x="4562475" y="4171950"/>
            <a:ext cx="3067050" cy="276225"/>
          </a:xfrm>
          <a:prstGeom prst="rect">
            <a:avLst/>
          </a:prstGeom>
          <a:noFill/>
          <a:ln w="0">
            <a:noFill/>
          </a:ln>
        </p:spPr>
        <p:txBody>
          <a:bodyPr>
            <a:noAutofit/>
          </a:bodyPr>
          <a:lstStyle/>
          <a:p>
            <a:pPr>
              <a:defRPr sz="1575" b="1">
                <a:solidFill>
                  <a:srgbClr val="16202B"/>
                </a:solidFill>
                <a:latin typeface="IBM Plex Sans"/>
                <a:ea typeface="IBM Plex Sans"/>
                <a:cs typeface="IBM Plex Sans"/>
              </a:defRPr>
            </a:pPr>
            <a:r>
              <a:rPr sz="1575" b="1">
                <a:solidFill>
                  <a:srgbClr val="16202B"/>
                </a:solidFill>
                <a:latin typeface="IBM Plex Sans"/>
                <a:ea typeface="IBM Plex Sans"/>
                <a:cs typeface="IBM Plex Sans"/>
              </a:rPr>
              <a:t>Retrieval</a:t>
            </a:r>
          </a:p>
        </p:txBody>
      </p:sp>
      <p:sp>
        <p:nvSpPr>
          <p:cNvPr id="36" name="Rectangle 35">
            <a:extLst>
              <a:ext uri="{FF2B5EF4-FFF2-40B4-BE49-F238E27FC236}">
                <a16:creationId xmlns:a16="http://schemas.microsoft.com/office/drawing/2014/main" id="{5E065D1F-4BDB-46C4-84DD-599D679F2F11}"/>
              </a:ext>
            </a:extLst>
          </p:cNvPr>
          <p:cNvSpPr>
            <a:spLocks noGrp="1"/>
          </p:cNvSpPr>
          <p:nvPr/>
        </p:nvSpPr>
        <p:spPr>
          <a:xfrm>
            <a:off x="4562475" y="4467225"/>
            <a:ext cx="3067050" cy="342900"/>
          </a:xfrm>
          <a:prstGeom prst="rect">
            <a:avLst/>
          </a:prstGeom>
          <a:noFill/>
          <a:ln w="0">
            <a:noFill/>
          </a:ln>
        </p:spPr>
        <p:txBody>
          <a:bodyPr>
            <a:noAutofit/>
          </a:bodyPr>
          <a:lstStyle/>
          <a:p>
            <a:pPr>
              <a:defRPr sz="1200" b="0">
                <a:solidFill>
                  <a:srgbClr val="5A6672"/>
                </a:solidFill>
                <a:latin typeface="IBM Plex Sans"/>
                <a:ea typeface="IBM Plex Sans"/>
                <a:cs typeface="IBM Plex Sans"/>
              </a:defRPr>
            </a:pPr>
            <a:r>
              <a:rPr sz="1200" b="0">
                <a:solidFill>
                  <a:srgbClr val="5A6672"/>
                </a:solidFill>
                <a:latin typeface="IBM Plex Sans"/>
                <a:ea typeface="IBM Plex Sans"/>
                <a:cs typeface="IBM Plex Sans"/>
              </a:rPr>
              <a:t>Observation?code=2160-0</a:t>
            </a:r>
          </a:p>
        </p:txBody>
      </p:sp>
      <p:sp>
        <p:nvSpPr>
          <p:cNvPr id="37" name="Rounded Rectangle 36">
            <a:extLst>
              <a:ext uri="{FF2B5EF4-FFF2-40B4-BE49-F238E27FC236}">
                <a16:creationId xmlns:a16="http://schemas.microsoft.com/office/drawing/2014/main" id="{A94520A1-E89E-4567-B124-AD59A7C1D5B1}"/>
              </a:ext>
            </a:extLst>
          </p:cNvPr>
          <p:cNvSpPr>
            <a:spLocks noGrp="1"/>
          </p:cNvSpPr>
          <p:nvPr/>
        </p:nvSpPr>
        <p:spPr>
          <a:xfrm>
            <a:off x="809625" y="3857625"/>
            <a:ext cx="3333750" cy="952500"/>
          </a:xfrm>
          <a:prstGeom prst="roundRect">
            <a:avLst>
              <a:gd name="adj" fmla="val 7000"/>
            </a:avLst>
          </a:prstGeom>
          <a:solidFill>
            <a:srgbClr val="FFFFFF"/>
          </a:solidFill>
          <a:ln w="9525">
            <a:solidFill>
              <a:srgbClr val="DDE2DE"/>
            </a:solidFill>
          </a:ln>
        </p:spPr>
        <p:txBody>
          <a:bodyPr/>
          <a:lstStyle/>
          <a:p>
            <a:endParaRPr lang="en-US"/>
          </a:p>
        </p:txBody>
      </p:sp>
      <p:sp>
        <p:nvSpPr>
          <p:cNvPr id="38" name="Rectangle 37">
            <a:extLst>
              <a:ext uri="{FF2B5EF4-FFF2-40B4-BE49-F238E27FC236}">
                <a16:creationId xmlns:a16="http://schemas.microsoft.com/office/drawing/2014/main" id="{7CAD3B30-0616-4354-9A5B-69AD1EB21D08}"/>
              </a:ext>
            </a:extLst>
          </p:cNvPr>
          <p:cNvSpPr>
            <a:spLocks noGrp="1"/>
          </p:cNvSpPr>
          <p:nvPr/>
        </p:nvSpPr>
        <p:spPr>
          <a:xfrm>
            <a:off x="942975" y="3952875"/>
            <a:ext cx="3067050" cy="180975"/>
          </a:xfrm>
          <a:prstGeom prst="rect">
            <a:avLst/>
          </a:prstGeom>
          <a:noFill/>
          <a:ln w="0">
            <a:noFill/>
          </a:ln>
        </p:spPr>
        <p:txBody>
          <a:bodyPr>
            <a:noAutofit/>
          </a:bodyPr>
          <a:lstStyle/>
          <a:p>
            <a:pPr>
              <a:defRPr sz="975" b="0">
                <a:solidFill>
                  <a:srgbClr val="2F6F62"/>
                </a:solidFill>
                <a:latin typeface="JetBrains Mono"/>
                <a:ea typeface="JetBrains Mono"/>
                <a:cs typeface="JetBrains Mono"/>
              </a:defRPr>
            </a:pPr>
            <a:r>
              <a:rPr sz="975" b="0">
                <a:solidFill>
                  <a:srgbClr val="2F6F62"/>
                </a:solidFill>
                <a:latin typeface="JetBrains Mono"/>
                <a:ea typeface="JetBrains Mono"/>
                <a:cs typeface="JetBrains Mono"/>
              </a:rPr>
              <a:t>DETERMINISTIC CODE</a:t>
            </a:r>
          </a:p>
        </p:txBody>
      </p:sp>
      <p:sp>
        <p:nvSpPr>
          <p:cNvPr id="39" name="Rectangle 38">
            <a:extLst>
              <a:ext uri="{FF2B5EF4-FFF2-40B4-BE49-F238E27FC236}">
                <a16:creationId xmlns:a16="http://schemas.microsoft.com/office/drawing/2014/main" id="{DD3D7CB3-41BE-4927-976E-3ED88F358163}"/>
              </a:ext>
            </a:extLst>
          </p:cNvPr>
          <p:cNvSpPr>
            <a:spLocks noGrp="1"/>
          </p:cNvSpPr>
          <p:nvPr/>
        </p:nvSpPr>
        <p:spPr>
          <a:xfrm>
            <a:off x="942975" y="4171950"/>
            <a:ext cx="3067050" cy="276225"/>
          </a:xfrm>
          <a:prstGeom prst="rect">
            <a:avLst/>
          </a:prstGeom>
          <a:noFill/>
          <a:ln w="0">
            <a:noFill/>
          </a:ln>
        </p:spPr>
        <p:txBody>
          <a:bodyPr>
            <a:noAutofit/>
          </a:bodyPr>
          <a:lstStyle/>
          <a:p>
            <a:pPr>
              <a:defRPr sz="1575" b="1">
                <a:solidFill>
                  <a:srgbClr val="16202B"/>
                </a:solidFill>
                <a:latin typeface="IBM Plex Sans"/>
                <a:ea typeface="IBM Plex Sans"/>
                <a:cs typeface="IBM Plex Sans"/>
              </a:defRPr>
            </a:pPr>
            <a:r>
              <a:rPr sz="1575" b="1">
                <a:solidFill>
                  <a:srgbClr val="16202B"/>
                </a:solidFill>
                <a:latin typeface="IBM Plex Sans"/>
                <a:ea typeface="IBM Plex Sans"/>
                <a:cs typeface="IBM Plex Sans"/>
              </a:rPr>
              <a:t>Normalization to COOL</a:t>
            </a:r>
          </a:p>
        </p:txBody>
      </p:sp>
      <p:sp>
        <p:nvSpPr>
          <p:cNvPr id="40" name="Rectangle 39">
            <a:extLst>
              <a:ext uri="{FF2B5EF4-FFF2-40B4-BE49-F238E27FC236}">
                <a16:creationId xmlns:a16="http://schemas.microsoft.com/office/drawing/2014/main" id="{9AD63A49-58C0-4967-886B-5BCA3BFC74B3}"/>
              </a:ext>
            </a:extLst>
          </p:cNvPr>
          <p:cNvSpPr>
            <a:spLocks noGrp="1"/>
          </p:cNvSpPr>
          <p:nvPr/>
        </p:nvSpPr>
        <p:spPr>
          <a:xfrm>
            <a:off x="942975" y="4467225"/>
            <a:ext cx="3067050" cy="342900"/>
          </a:xfrm>
          <a:prstGeom prst="rect">
            <a:avLst/>
          </a:prstGeom>
          <a:noFill/>
          <a:ln w="0">
            <a:noFill/>
          </a:ln>
        </p:spPr>
        <p:txBody>
          <a:bodyPr>
            <a:noAutofit/>
          </a:bodyPr>
          <a:lstStyle/>
          <a:p>
            <a:pPr>
              <a:defRPr sz="1200" b="0">
                <a:solidFill>
                  <a:srgbClr val="5A6672"/>
                </a:solidFill>
                <a:latin typeface="IBM Plex Sans"/>
                <a:ea typeface="IBM Plex Sans"/>
                <a:cs typeface="IBM Plex Sans"/>
              </a:defRPr>
            </a:pPr>
            <a:r>
              <a:rPr sz="1200" b="0">
                <a:solidFill>
                  <a:srgbClr val="5A6672"/>
                </a:solidFill>
                <a:latin typeface="IBM Plex Sans"/>
                <a:ea typeface="IBM Plex Sans"/>
                <a:cs typeface="IBM Plex Sans"/>
              </a:rPr>
              <a:t>Constrained values + source provenance</a:t>
            </a:r>
          </a:p>
        </p:txBody>
      </p:sp>
      <p:cxnSp>
        <p:nvCxnSpPr>
          <p:cNvPr id="103" name="Elbow Connector 102"/>
          <p:cNvCxnSpPr>
            <a:stCxn id="19" idx="2"/>
            <a:endCxn id="29" idx="0"/>
          </p:cNvCxnSpPr>
          <p:nvPr/>
        </p:nvCxnSpPr>
        <p:spPr>
          <a:xfrm flipH="1">
            <a:off x="9715500" y="3343275"/>
            <a:ext cx="523875" cy="514350"/>
          </a:xfrm>
          <a:prstGeom prst="bentConnector4">
            <a:avLst>
              <a:gd name="adj1" fmla="val 0"/>
              <a:gd name="adj2" fmla="val 50000"/>
            </a:avLst>
          </a:prstGeom>
          <a:ln w="19050">
            <a:solidFill>
              <a:srgbClr val="2F6F62"/>
            </a:solidFill>
            <a:tailEnd type="triangle" w="sm" len="sm"/>
          </a:ln>
        </p:spPr>
      </p:cxnSp>
      <p:cxnSp>
        <p:nvCxnSpPr>
          <p:cNvPr id="104" name="Straight Arrow Connector 103"/>
          <p:cNvCxnSpPr>
            <a:stCxn id="29" idx="1"/>
            <a:endCxn id="33" idx="3"/>
          </p:cNvCxnSpPr>
          <p:nvPr/>
        </p:nvCxnSpPr>
        <p:spPr>
          <a:xfrm flipH="1">
            <a:off x="7762875" y="4333875"/>
            <a:ext cx="285750" cy="0"/>
          </a:xfrm>
          <a:prstGeom prst="straightConnector1">
            <a:avLst/>
          </a:prstGeom>
          <a:ln w="19050">
            <a:solidFill>
              <a:srgbClr val="2F6F62"/>
            </a:solidFill>
            <a:tailEnd type="triangle" w="sm" len="sm"/>
          </a:ln>
        </p:spPr>
      </p:cxnSp>
      <p:cxnSp>
        <p:nvCxnSpPr>
          <p:cNvPr id="105" name="Straight Arrow Connector 104"/>
          <p:cNvCxnSpPr>
            <a:stCxn id="33" idx="1"/>
            <a:endCxn id="37" idx="3"/>
          </p:cNvCxnSpPr>
          <p:nvPr/>
        </p:nvCxnSpPr>
        <p:spPr>
          <a:xfrm flipH="1">
            <a:off x="4143375" y="4333875"/>
            <a:ext cx="285750" cy="0"/>
          </a:xfrm>
          <a:prstGeom prst="straightConnector1">
            <a:avLst/>
          </a:prstGeom>
          <a:ln w="19050">
            <a:solidFill>
              <a:srgbClr val="2F6F62"/>
            </a:solidFill>
            <a:tailEnd type="triangle" w="sm" len="sm"/>
          </a:ln>
        </p:spPr>
      </p:cxnSp>
      <p:sp>
        <p:nvSpPr>
          <p:cNvPr id="44" name="Rectangle 43">
            <a:extLst>
              <a:ext uri="{FF2B5EF4-FFF2-40B4-BE49-F238E27FC236}">
                <a16:creationId xmlns:a16="http://schemas.microsoft.com/office/drawing/2014/main" id="{C8F1BC76-994F-465D-B775-EC1395486515}"/>
              </a:ext>
            </a:extLst>
          </p:cNvPr>
          <p:cNvSpPr>
            <a:spLocks noGrp="1"/>
          </p:cNvSpPr>
          <p:nvPr/>
        </p:nvSpPr>
        <p:spPr>
          <a:xfrm>
            <a:off x="809625" y="5057775"/>
            <a:ext cx="10572750" cy="12383"/>
          </a:xfrm>
          <a:prstGeom prst="rect">
            <a:avLst/>
          </a:prstGeom>
          <a:solidFill>
            <a:srgbClr val="2F6F62"/>
          </a:solidFill>
          <a:ln w="0">
            <a:noFill/>
          </a:ln>
        </p:spPr>
        <p:txBody>
          <a:bodyPr/>
          <a:lstStyle/>
          <a:p>
            <a:endParaRPr lang="en-US"/>
          </a:p>
        </p:txBody>
      </p:sp>
      <p:sp>
        <p:nvSpPr>
          <p:cNvPr id="45" name="Rectangle 44">
            <a:extLst>
              <a:ext uri="{FF2B5EF4-FFF2-40B4-BE49-F238E27FC236}">
                <a16:creationId xmlns:a16="http://schemas.microsoft.com/office/drawing/2014/main" id="{1B1F9E29-08F8-4C08-873C-A38F5C407C0C}"/>
              </a:ext>
            </a:extLst>
          </p:cNvPr>
          <p:cNvSpPr>
            <a:spLocks noGrp="1"/>
          </p:cNvSpPr>
          <p:nvPr/>
        </p:nvSpPr>
        <p:spPr>
          <a:xfrm>
            <a:off x="4429125" y="4943475"/>
            <a:ext cx="3429000" cy="238125"/>
          </a:xfrm>
          <a:prstGeom prst="rect">
            <a:avLst/>
          </a:prstGeom>
          <a:solidFill>
            <a:srgbClr val="F7F8F6"/>
          </a:solidFill>
          <a:ln w="0">
            <a:noFill/>
          </a:ln>
        </p:spPr>
        <p:txBody>
          <a:bodyPr/>
          <a:lstStyle/>
          <a:p>
            <a:endParaRPr lang="en-US"/>
          </a:p>
        </p:txBody>
      </p:sp>
      <p:sp>
        <p:nvSpPr>
          <p:cNvPr id="46" name="Rectangle 45">
            <a:extLst>
              <a:ext uri="{FF2B5EF4-FFF2-40B4-BE49-F238E27FC236}">
                <a16:creationId xmlns:a16="http://schemas.microsoft.com/office/drawing/2014/main" id="{531AFC6F-0B2F-4B3B-B628-37CA1FAE0AB0}"/>
              </a:ext>
            </a:extLst>
          </p:cNvPr>
          <p:cNvSpPr>
            <a:spLocks noGrp="1"/>
          </p:cNvSpPr>
          <p:nvPr/>
        </p:nvSpPr>
        <p:spPr>
          <a:xfrm>
            <a:off x="4524375" y="4943475"/>
            <a:ext cx="3286125" cy="238125"/>
          </a:xfrm>
          <a:prstGeom prst="rect">
            <a:avLst/>
          </a:prstGeom>
          <a:noFill/>
          <a:ln w="0">
            <a:noFill/>
          </a:ln>
        </p:spPr>
        <p:txBody>
          <a:bodyPr>
            <a:noAutofit/>
          </a:bodyPr>
          <a:lstStyle/>
          <a:p>
            <a:pPr>
              <a:defRPr sz="1050" b="0">
                <a:solidFill>
                  <a:srgbClr val="2F6F62"/>
                </a:solidFill>
                <a:latin typeface="JetBrains Mono"/>
                <a:ea typeface="JetBrains Mono"/>
                <a:cs typeface="JetBrains Mono"/>
              </a:defRPr>
            </a:pPr>
            <a:r>
              <a:rPr sz="1050" b="0">
                <a:solidFill>
                  <a:srgbClr val="2F6F62"/>
                </a:solidFill>
                <a:latin typeface="JetBrains Mono"/>
                <a:ea typeface="JetBrains Mono"/>
                <a:cs typeface="JetBrains Mono"/>
              </a:rPr>
              <a:t>RETURN TO SEMANTIC EVIDENCE</a:t>
            </a:r>
          </a:p>
        </p:txBody>
      </p:sp>
      <p:sp>
        <p:nvSpPr>
          <p:cNvPr id="47" name="Rounded Rectangle 46">
            <a:extLst>
              <a:ext uri="{FF2B5EF4-FFF2-40B4-BE49-F238E27FC236}">
                <a16:creationId xmlns:a16="http://schemas.microsoft.com/office/drawing/2014/main" id="{8B8514E0-D64F-41F2-9FAC-41797DB48EE5}"/>
              </a:ext>
            </a:extLst>
          </p:cNvPr>
          <p:cNvSpPr>
            <a:spLocks noGrp="1"/>
          </p:cNvSpPr>
          <p:nvPr/>
        </p:nvSpPr>
        <p:spPr>
          <a:xfrm>
            <a:off x="809625" y="5314950"/>
            <a:ext cx="3333750" cy="952500"/>
          </a:xfrm>
          <a:prstGeom prst="roundRect">
            <a:avLst>
              <a:gd name="adj" fmla="val 7000"/>
            </a:avLst>
          </a:prstGeom>
          <a:solidFill>
            <a:srgbClr val="FFFFFF"/>
          </a:solidFill>
          <a:ln w="9525">
            <a:solidFill>
              <a:srgbClr val="DDE2DE"/>
            </a:solidFill>
          </a:ln>
        </p:spPr>
        <p:txBody>
          <a:bodyPr/>
          <a:lstStyle/>
          <a:p>
            <a:endParaRPr lang="en-US"/>
          </a:p>
        </p:txBody>
      </p:sp>
      <p:sp>
        <p:nvSpPr>
          <p:cNvPr id="48" name="Rectangle 47">
            <a:extLst>
              <a:ext uri="{FF2B5EF4-FFF2-40B4-BE49-F238E27FC236}">
                <a16:creationId xmlns:a16="http://schemas.microsoft.com/office/drawing/2014/main" id="{E2422849-E48A-41F1-8AED-9733F6AF1A93}"/>
              </a:ext>
            </a:extLst>
          </p:cNvPr>
          <p:cNvSpPr>
            <a:spLocks noGrp="1"/>
          </p:cNvSpPr>
          <p:nvPr/>
        </p:nvSpPr>
        <p:spPr>
          <a:xfrm>
            <a:off x="942975" y="5410200"/>
            <a:ext cx="3067050" cy="180975"/>
          </a:xfrm>
          <a:prstGeom prst="rect">
            <a:avLst/>
          </a:prstGeom>
          <a:noFill/>
          <a:ln w="0">
            <a:noFill/>
          </a:ln>
        </p:spPr>
        <p:txBody>
          <a:bodyPr>
            <a:noAutofit/>
          </a:bodyPr>
          <a:lstStyle/>
          <a:p>
            <a:pPr>
              <a:defRPr sz="975" b="0">
                <a:solidFill>
                  <a:srgbClr val="2F6F62"/>
                </a:solidFill>
                <a:latin typeface="JetBrains Mono"/>
                <a:ea typeface="JetBrains Mono"/>
                <a:cs typeface="JetBrains Mono"/>
              </a:defRPr>
            </a:pPr>
            <a:r>
              <a:rPr sz="975" b="0">
                <a:solidFill>
                  <a:srgbClr val="2F6F62"/>
                </a:solidFill>
                <a:latin typeface="JetBrains Mono"/>
                <a:ea typeface="JetBrains Mono"/>
                <a:cs typeface="JetBrains Mono"/>
              </a:rPr>
              <a:t>CODE</a:t>
            </a:r>
          </a:p>
        </p:txBody>
      </p:sp>
      <p:sp>
        <p:nvSpPr>
          <p:cNvPr id="49" name="Rectangle 48">
            <a:extLst>
              <a:ext uri="{FF2B5EF4-FFF2-40B4-BE49-F238E27FC236}">
                <a16:creationId xmlns:a16="http://schemas.microsoft.com/office/drawing/2014/main" id="{964B8F6A-F1A3-4D43-B5E9-A6AD0903019D}"/>
              </a:ext>
            </a:extLst>
          </p:cNvPr>
          <p:cNvSpPr>
            <a:spLocks noGrp="1"/>
          </p:cNvSpPr>
          <p:nvPr/>
        </p:nvSpPr>
        <p:spPr>
          <a:xfrm>
            <a:off x="942975" y="5629275"/>
            <a:ext cx="3067050" cy="276225"/>
          </a:xfrm>
          <a:prstGeom prst="rect">
            <a:avLst/>
          </a:prstGeom>
          <a:noFill/>
          <a:ln w="0">
            <a:noFill/>
          </a:ln>
        </p:spPr>
        <p:txBody>
          <a:bodyPr>
            <a:noAutofit/>
          </a:bodyPr>
          <a:lstStyle/>
          <a:p>
            <a:pPr>
              <a:defRPr sz="1575" b="1">
                <a:solidFill>
                  <a:srgbClr val="16202B"/>
                </a:solidFill>
                <a:latin typeface="IBM Plex Sans"/>
                <a:ea typeface="IBM Plex Sans"/>
                <a:cs typeface="IBM Plex Sans"/>
              </a:defRPr>
            </a:pPr>
            <a:r>
              <a:rPr sz="1575" b="1">
                <a:solidFill>
                  <a:srgbClr val="16202B"/>
                </a:solidFill>
                <a:latin typeface="IBM Plex Sans"/>
                <a:ea typeface="IBM Plex Sans"/>
                <a:cs typeface="IBM Plex Sans"/>
              </a:rPr>
              <a:t>Normalized evidence</a:t>
            </a:r>
          </a:p>
        </p:txBody>
      </p:sp>
      <p:sp>
        <p:nvSpPr>
          <p:cNvPr id="50" name="Rectangle 49">
            <a:extLst>
              <a:ext uri="{FF2B5EF4-FFF2-40B4-BE49-F238E27FC236}">
                <a16:creationId xmlns:a16="http://schemas.microsoft.com/office/drawing/2014/main" id="{F9C34154-DCAA-419E-A460-9ABD3FAD127B}"/>
              </a:ext>
            </a:extLst>
          </p:cNvPr>
          <p:cNvSpPr>
            <a:spLocks noGrp="1"/>
          </p:cNvSpPr>
          <p:nvPr/>
        </p:nvSpPr>
        <p:spPr>
          <a:xfrm>
            <a:off x="942975" y="5924550"/>
            <a:ext cx="3067050" cy="342900"/>
          </a:xfrm>
          <a:prstGeom prst="rect">
            <a:avLst/>
          </a:prstGeom>
          <a:noFill/>
          <a:ln w="0">
            <a:noFill/>
          </a:ln>
        </p:spPr>
        <p:txBody>
          <a:bodyPr>
            <a:noAutofit/>
          </a:bodyPr>
          <a:lstStyle/>
          <a:p>
            <a:pPr>
              <a:defRPr sz="1200" b="0">
                <a:solidFill>
                  <a:srgbClr val="5A6672"/>
                </a:solidFill>
                <a:latin typeface="IBM Plex Sans"/>
                <a:ea typeface="IBM Plex Sans"/>
                <a:cs typeface="IBM Plex Sans"/>
              </a:defRPr>
            </a:pPr>
            <a:r>
              <a:rPr sz="1200" b="0">
                <a:solidFill>
                  <a:srgbClr val="5A6672"/>
                </a:solidFill>
                <a:latin typeface="IBM Plex Sans"/>
                <a:ea typeface="IBM Plex Sans"/>
                <a:cs typeface="IBM Plex Sans"/>
              </a:rPr>
              <a:t>Units, times, provenance + calculations</a:t>
            </a:r>
          </a:p>
        </p:txBody>
      </p:sp>
      <p:sp>
        <p:nvSpPr>
          <p:cNvPr id="51" name="Rounded Rectangle 50">
            <a:extLst>
              <a:ext uri="{FF2B5EF4-FFF2-40B4-BE49-F238E27FC236}">
                <a16:creationId xmlns:a16="http://schemas.microsoft.com/office/drawing/2014/main" id="{BEB4687D-3236-4836-9280-A57E6A9D6369}"/>
              </a:ext>
            </a:extLst>
          </p:cNvPr>
          <p:cNvSpPr>
            <a:spLocks noGrp="1"/>
          </p:cNvSpPr>
          <p:nvPr/>
        </p:nvSpPr>
        <p:spPr>
          <a:xfrm>
            <a:off x="4429125" y="5314950"/>
            <a:ext cx="3333750" cy="952500"/>
          </a:xfrm>
          <a:prstGeom prst="roundRect">
            <a:avLst>
              <a:gd name="adj" fmla="val 7000"/>
            </a:avLst>
          </a:prstGeom>
          <a:solidFill>
            <a:srgbClr val="FFF6F1"/>
          </a:solidFill>
          <a:ln w="9525">
            <a:solidFill>
              <a:srgbClr val="E8C7B4"/>
            </a:solidFill>
          </a:ln>
        </p:spPr>
        <p:txBody>
          <a:bodyPr/>
          <a:lstStyle/>
          <a:p>
            <a:endParaRPr lang="en-US"/>
          </a:p>
        </p:txBody>
      </p:sp>
      <p:sp>
        <p:nvSpPr>
          <p:cNvPr id="52" name="Rectangle 51">
            <a:extLst>
              <a:ext uri="{FF2B5EF4-FFF2-40B4-BE49-F238E27FC236}">
                <a16:creationId xmlns:a16="http://schemas.microsoft.com/office/drawing/2014/main" id="{E84A2543-4FF4-4C4E-BDE4-29267822A0C8}"/>
              </a:ext>
            </a:extLst>
          </p:cNvPr>
          <p:cNvSpPr>
            <a:spLocks noGrp="1"/>
          </p:cNvSpPr>
          <p:nvPr/>
        </p:nvSpPr>
        <p:spPr>
          <a:xfrm>
            <a:off x="4562475" y="5410200"/>
            <a:ext cx="3067050" cy="180975"/>
          </a:xfrm>
          <a:prstGeom prst="rect">
            <a:avLst/>
          </a:prstGeom>
          <a:noFill/>
          <a:ln w="0">
            <a:noFill/>
          </a:ln>
        </p:spPr>
        <p:txBody>
          <a:bodyPr>
            <a:noAutofit/>
          </a:bodyPr>
          <a:lstStyle/>
          <a:p>
            <a:pPr>
              <a:defRPr sz="975" b="0">
                <a:solidFill>
                  <a:srgbClr val="B4552D"/>
                </a:solidFill>
                <a:latin typeface="JetBrains Mono"/>
                <a:ea typeface="JetBrains Mono"/>
                <a:cs typeface="JetBrains Mono"/>
              </a:defRPr>
            </a:pPr>
            <a:r>
              <a:rPr sz="975" b="0">
                <a:solidFill>
                  <a:srgbClr val="B4552D"/>
                </a:solidFill>
                <a:latin typeface="JetBrains Mono"/>
                <a:ea typeface="JetBrains Mono"/>
                <a:cs typeface="JetBrains Mono"/>
              </a:rPr>
              <a:t>LLM 2</a:t>
            </a:r>
          </a:p>
        </p:txBody>
      </p:sp>
      <p:sp>
        <p:nvSpPr>
          <p:cNvPr id="53" name="Rectangle 52">
            <a:extLst>
              <a:ext uri="{FF2B5EF4-FFF2-40B4-BE49-F238E27FC236}">
                <a16:creationId xmlns:a16="http://schemas.microsoft.com/office/drawing/2014/main" id="{A92AC0D7-50C6-4DD0-9851-59330914069F}"/>
              </a:ext>
            </a:extLst>
          </p:cNvPr>
          <p:cNvSpPr>
            <a:spLocks noGrp="1"/>
          </p:cNvSpPr>
          <p:nvPr/>
        </p:nvSpPr>
        <p:spPr>
          <a:xfrm>
            <a:off x="4562475" y="5629275"/>
            <a:ext cx="3067050" cy="276225"/>
          </a:xfrm>
          <a:prstGeom prst="rect">
            <a:avLst/>
          </a:prstGeom>
          <a:noFill/>
          <a:ln w="0">
            <a:noFill/>
          </a:ln>
        </p:spPr>
        <p:txBody>
          <a:bodyPr>
            <a:noAutofit/>
          </a:bodyPr>
          <a:lstStyle/>
          <a:p>
            <a:pPr>
              <a:defRPr sz="1575" b="1">
                <a:solidFill>
                  <a:srgbClr val="16202B"/>
                </a:solidFill>
                <a:latin typeface="IBM Plex Sans"/>
                <a:ea typeface="IBM Plex Sans"/>
                <a:cs typeface="IBM Plex Sans"/>
              </a:defRPr>
            </a:pPr>
            <a:r>
              <a:rPr sz="1575" b="1">
                <a:solidFill>
                  <a:srgbClr val="16202B"/>
                </a:solidFill>
                <a:latin typeface="IBM Plex Sans"/>
                <a:ea typeface="IBM Plex Sans"/>
                <a:cs typeface="IBM Plex Sans"/>
              </a:rPr>
              <a:t>Reasoning</a:t>
            </a:r>
          </a:p>
        </p:txBody>
      </p:sp>
      <p:sp>
        <p:nvSpPr>
          <p:cNvPr id="54" name="Rectangle 53">
            <a:extLst>
              <a:ext uri="{FF2B5EF4-FFF2-40B4-BE49-F238E27FC236}">
                <a16:creationId xmlns:a16="http://schemas.microsoft.com/office/drawing/2014/main" id="{B861CAFF-CBA8-4B3A-B53A-64FD5D316620}"/>
              </a:ext>
            </a:extLst>
          </p:cNvPr>
          <p:cNvSpPr>
            <a:spLocks noGrp="1"/>
          </p:cNvSpPr>
          <p:nvPr/>
        </p:nvSpPr>
        <p:spPr>
          <a:xfrm>
            <a:off x="4562475" y="5924550"/>
            <a:ext cx="3067050" cy="342900"/>
          </a:xfrm>
          <a:prstGeom prst="rect">
            <a:avLst/>
          </a:prstGeom>
          <a:noFill/>
          <a:ln w="0">
            <a:noFill/>
          </a:ln>
        </p:spPr>
        <p:txBody>
          <a:bodyPr>
            <a:noAutofit/>
          </a:bodyPr>
          <a:lstStyle/>
          <a:p>
            <a:pPr>
              <a:defRPr sz="1200" b="0">
                <a:solidFill>
                  <a:srgbClr val="5A6672"/>
                </a:solidFill>
                <a:latin typeface="IBM Plex Sans"/>
                <a:ea typeface="IBM Plex Sans"/>
                <a:cs typeface="IBM Plex Sans"/>
              </a:defRPr>
            </a:pPr>
            <a:r>
              <a:rPr sz="1200" b="0">
                <a:solidFill>
                  <a:srgbClr val="5A6672"/>
                </a:solidFill>
                <a:latin typeface="IBM Plex Sans"/>
                <a:ea typeface="IBM Plex Sans"/>
                <a:cs typeface="IBM Plex Sans"/>
              </a:rPr>
              <a:t>Reason over the selected evidence</a:t>
            </a:r>
          </a:p>
        </p:txBody>
      </p:sp>
      <p:sp>
        <p:nvSpPr>
          <p:cNvPr id="55" name="Rounded Rectangle 54">
            <a:extLst>
              <a:ext uri="{FF2B5EF4-FFF2-40B4-BE49-F238E27FC236}">
                <a16:creationId xmlns:a16="http://schemas.microsoft.com/office/drawing/2014/main" id="{A3EB15BB-F4CC-4FE6-B4E8-3E445D8ACA4E}"/>
              </a:ext>
            </a:extLst>
          </p:cNvPr>
          <p:cNvSpPr>
            <a:spLocks noGrp="1"/>
          </p:cNvSpPr>
          <p:nvPr/>
        </p:nvSpPr>
        <p:spPr>
          <a:xfrm>
            <a:off x="8048625" y="5314950"/>
            <a:ext cx="3333750" cy="952500"/>
          </a:xfrm>
          <a:prstGeom prst="roundRect">
            <a:avLst>
              <a:gd name="adj" fmla="val 7000"/>
            </a:avLst>
          </a:prstGeom>
          <a:solidFill>
            <a:srgbClr val="FFFFFF"/>
          </a:solidFill>
          <a:ln w="9525">
            <a:solidFill>
              <a:srgbClr val="DDE2DE"/>
            </a:solidFill>
          </a:ln>
        </p:spPr>
        <p:txBody>
          <a:bodyPr/>
          <a:lstStyle/>
          <a:p>
            <a:endParaRPr lang="en-US"/>
          </a:p>
        </p:txBody>
      </p:sp>
      <p:sp>
        <p:nvSpPr>
          <p:cNvPr id="56" name="Rectangle 55">
            <a:extLst>
              <a:ext uri="{FF2B5EF4-FFF2-40B4-BE49-F238E27FC236}">
                <a16:creationId xmlns:a16="http://schemas.microsoft.com/office/drawing/2014/main" id="{EC92BFD4-92A0-482B-90C3-6D64005EDFF6}"/>
              </a:ext>
            </a:extLst>
          </p:cNvPr>
          <p:cNvSpPr>
            <a:spLocks noGrp="1"/>
          </p:cNvSpPr>
          <p:nvPr/>
        </p:nvSpPr>
        <p:spPr>
          <a:xfrm>
            <a:off x="8181975" y="5410200"/>
            <a:ext cx="3067050" cy="180975"/>
          </a:xfrm>
          <a:prstGeom prst="rect">
            <a:avLst/>
          </a:prstGeom>
          <a:noFill/>
          <a:ln w="0">
            <a:noFill/>
          </a:ln>
        </p:spPr>
        <p:txBody>
          <a:bodyPr>
            <a:noAutofit/>
          </a:bodyPr>
          <a:lstStyle/>
          <a:p>
            <a:pPr>
              <a:defRPr sz="975" b="0">
                <a:solidFill>
                  <a:srgbClr val="2F6F62"/>
                </a:solidFill>
                <a:latin typeface="JetBrains Mono"/>
                <a:ea typeface="JetBrains Mono"/>
                <a:cs typeface="JetBrains Mono"/>
              </a:defRPr>
            </a:pPr>
            <a:r>
              <a:rPr sz="975" b="0">
                <a:solidFill>
                  <a:srgbClr val="2F6F62"/>
                </a:solidFill>
                <a:latin typeface="JetBrains Mono"/>
                <a:ea typeface="JetBrains Mono"/>
                <a:cs typeface="JetBrains Mono"/>
              </a:rPr>
              <a:t>CODE: CITATION VALIDATION</a:t>
            </a:r>
          </a:p>
        </p:txBody>
      </p:sp>
      <p:sp>
        <p:nvSpPr>
          <p:cNvPr id="57" name="Rectangle 56">
            <a:extLst>
              <a:ext uri="{FF2B5EF4-FFF2-40B4-BE49-F238E27FC236}">
                <a16:creationId xmlns:a16="http://schemas.microsoft.com/office/drawing/2014/main" id="{A60FE9DB-EA35-4E3B-A238-0BCC8BBA399B}"/>
              </a:ext>
            </a:extLst>
          </p:cNvPr>
          <p:cNvSpPr>
            <a:spLocks noGrp="1"/>
          </p:cNvSpPr>
          <p:nvPr/>
        </p:nvSpPr>
        <p:spPr>
          <a:xfrm>
            <a:off x="8181975" y="5629275"/>
            <a:ext cx="3067050" cy="276225"/>
          </a:xfrm>
          <a:prstGeom prst="rect">
            <a:avLst/>
          </a:prstGeom>
          <a:noFill/>
          <a:ln w="0">
            <a:noFill/>
          </a:ln>
        </p:spPr>
        <p:txBody>
          <a:bodyPr>
            <a:noAutofit/>
          </a:bodyPr>
          <a:lstStyle/>
          <a:p>
            <a:pPr>
              <a:defRPr sz="1575" b="1">
                <a:solidFill>
                  <a:srgbClr val="16202B"/>
                </a:solidFill>
                <a:latin typeface="IBM Plex Sans"/>
                <a:ea typeface="IBM Plex Sans"/>
                <a:cs typeface="IBM Plex Sans"/>
              </a:defRPr>
            </a:pPr>
            <a:r>
              <a:rPr sz="1575" b="1">
                <a:solidFill>
                  <a:srgbClr val="16202B"/>
                </a:solidFill>
                <a:latin typeface="IBM Plex Sans"/>
                <a:ea typeface="IBM Plex Sans"/>
                <a:cs typeface="IBM Plex Sans"/>
              </a:rPr>
              <a:t>Cited answer</a:t>
            </a:r>
          </a:p>
        </p:txBody>
      </p:sp>
      <p:sp>
        <p:nvSpPr>
          <p:cNvPr id="58" name="Rectangle 57">
            <a:extLst>
              <a:ext uri="{FF2B5EF4-FFF2-40B4-BE49-F238E27FC236}">
                <a16:creationId xmlns:a16="http://schemas.microsoft.com/office/drawing/2014/main" id="{84BEF534-CCE2-4288-AF91-7DF687EF0263}"/>
              </a:ext>
            </a:extLst>
          </p:cNvPr>
          <p:cNvSpPr>
            <a:spLocks noGrp="1"/>
          </p:cNvSpPr>
          <p:nvPr/>
        </p:nvSpPr>
        <p:spPr>
          <a:xfrm>
            <a:off x="8181975" y="5924550"/>
            <a:ext cx="3067050" cy="342900"/>
          </a:xfrm>
          <a:prstGeom prst="rect">
            <a:avLst/>
          </a:prstGeom>
          <a:noFill/>
          <a:ln w="0">
            <a:noFill/>
          </a:ln>
        </p:spPr>
        <p:txBody>
          <a:bodyPr>
            <a:noAutofit/>
          </a:bodyPr>
          <a:lstStyle/>
          <a:p>
            <a:pPr>
              <a:defRPr sz="1200" b="0">
                <a:solidFill>
                  <a:srgbClr val="5A6672"/>
                </a:solidFill>
                <a:latin typeface="IBM Plex Sans"/>
                <a:ea typeface="IBM Plex Sans"/>
                <a:cs typeface="IBM Plex Sans"/>
              </a:defRPr>
            </a:pPr>
            <a:r>
              <a:rPr sz="1200" b="0">
                <a:solidFill>
                  <a:srgbClr val="5A6672"/>
                </a:solidFill>
                <a:latin typeface="IBM Plex Sans"/>
                <a:ea typeface="IBM Plex Sans"/>
                <a:cs typeface="IBM Plex Sans"/>
              </a:rPr>
              <a:t>Trace claims to evidence and source</a:t>
            </a:r>
          </a:p>
        </p:txBody>
      </p:sp>
      <p:cxnSp>
        <p:nvCxnSpPr>
          <p:cNvPr id="121" name="Straight Arrow Connector 120"/>
          <p:cNvCxnSpPr>
            <a:stCxn id="37" idx="2"/>
            <a:endCxn id="47" idx="0"/>
          </p:cNvCxnSpPr>
          <p:nvPr/>
        </p:nvCxnSpPr>
        <p:spPr>
          <a:xfrm>
            <a:off x="2476500" y="4810125"/>
            <a:ext cx="0" cy="504825"/>
          </a:xfrm>
          <a:prstGeom prst="straightConnector1">
            <a:avLst/>
          </a:prstGeom>
          <a:ln w="19050">
            <a:solidFill>
              <a:srgbClr val="2F6F62"/>
            </a:solidFill>
            <a:tailEnd type="triangle" w="sm" len="sm"/>
          </a:ln>
        </p:spPr>
      </p:cxnSp>
      <p:cxnSp>
        <p:nvCxnSpPr>
          <p:cNvPr id="122" name="Straight Arrow Connector 121"/>
          <p:cNvCxnSpPr>
            <a:stCxn id="47" idx="3"/>
            <a:endCxn id="51" idx="1"/>
          </p:cNvCxnSpPr>
          <p:nvPr/>
        </p:nvCxnSpPr>
        <p:spPr>
          <a:xfrm>
            <a:off x="4143375" y="5791200"/>
            <a:ext cx="285750" cy="0"/>
          </a:xfrm>
          <a:prstGeom prst="straightConnector1">
            <a:avLst/>
          </a:prstGeom>
          <a:ln w="19050">
            <a:solidFill>
              <a:srgbClr val="2F6F62"/>
            </a:solidFill>
            <a:tailEnd type="triangle" w="sm" len="sm"/>
          </a:ln>
        </p:spPr>
      </p:cxnSp>
      <p:cxnSp>
        <p:nvCxnSpPr>
          <p:cNvPr id="123" name="Straight Arrow Connector 122"/>
          <p:cNvCxnSpPr>
            <a:stCxn id="51" idx="3"/>
            <a:endCxn id="55" idx="1"/>
          </p:cNvCxnSpPr>
          <p:nvPr/>
        </p:nvCxnSpPr>
        <p:spPr>
          <a:xfrm>
            <a:off x="7762875" y="5791200"/>
            <a:ext cx="285750" cy="0"/>
          </a:xfrm>
          <a:prstGeom prst="straightConnector1">
            <a:avLst/>
          </a:prstGeom>
          <a:ln w="19050">
            <a:solidFill>
              <a:srgbClr val="2F6F62"/>
            </a:solidFill>
            <a:tailEnd type="triangle" w="sm" len="sm"/>
          </a:ln>
        </p:spPr>
      </p:cxnSp>
      <p:sp>
        <p:nvSpPr>
          <p:cNvPr id="62" name="Rectangle 61">
            <a:extLst>
              <a:ext uri="{FF2B5EF4-FFF2-40B4-BE49-F238E27FC236}">
                <a16:creationId xmlns:a16="http://schemas.microsoft.com/office/drawing/2014/main" id="{4AA0CF3B-ABE2-4E14-940F-0A1F5086F5A4}"/>
              </a:ext>
            </a:extLst>
          </p:cNvPr>
          <p:cNvSpPr>
            <a:spLocks noGrp="1"/>
          </p:cNvSpPr>
          <p:nvPr/>
        </p:nvSpPr>
        <p:spPr>
          <a:xfrm>
            <a:off x="809625" y="6457950"/>
            <a:ext cx="10572750" cy="209550"/>
          </a:xfrm>
          <a:prstGeom prst="rect">
            <a:avLst/>
          </a:prstGeom>
          <a:noFill/>
          <a:ln w="0">
            <a:noFill/>
          </a:ln>
        </p:spPr>
        <p:txBody>
          <a:bodyPr>
            <a:noAutofit/>
          </a:bodyPr>
          <a:lstStyle/>
          <a:p>
            <a:pPr>
              <a:defRPr sz="1050" b="0">
                <a:solidFill>
                  <a:srgbClr val="5A6672"/>
                </a:solidFill>
                <a:latin typeface="IBM Plex Sans"/>
                <a:ea typeface="IBM Plex Sans"/>
                <a:cs typeface="IBM Plex Sans"/>
              </a:defRPr>
            </a:pPr>
            <a:r>
              <a:rPr sz="1050" b="0">
                <a:solidFill>
                  <a:srgbClr val="5A6672"/>
                </a:solidFill>
                <a:latin typeface="IBM Plex Sans"/>
                <a:ea typeface="IBM Plex Sans"/>
                <a:cs typeface="IBM Plex Sans"/>
              </a:rPr>
              <a:t>Orange = LLM role    Green = deterministic code    Every intermediate artifact is inspectable</a:t>
            </a:r>
          </a:p>
        </p:txBody>
      </p:sp>
    </p:spTree>
    <p:extLst>
      <p:ext uri="{BB962C8B-B14F-4D97-AF65-F5344CB8AC3E}">
        <p14:creationId xmlns:p14="http://schemas.microsoft.com/office/powerpoint/2010/main" val="99964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6"/>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0AD98E24-ED26-4619-8E90-0AEBD1F7DE21}"/>
              </a:ext>
            </a:extLst>
          </p:cNvPr>
          <p:cNvSpPr>
            <a:spLocks noGrp="1"/>
          </p:cNvSpPr>
          <p:nvPr/>
        </p:nvSpPr>
        <p:spPr>
          <a:xfrm>
            <a:off x="809625" y="381000"/>
            <a:ext cx="3810000" cy="571500"/>
          </a:xfrm>
          <a:prstGeom prst="rect">
            <a:avLst/>
          </a:prstGeom>
          <a:noFill/>
          <a:ln w="0">
            <a:noFill/>
          </a:ln>
        </p:spPr>
        <p:txBody>
          <a:bodyPr>
            <a:noAutofit/>
          </a:bodyPr>
          <a:lstStyle/>
          <a:p>
            <a:pPr>
              <a:defRPr sz="3750" b="1">
                <a:solidFill>
                  <a:srgbClr val="16202B"/>
                </a:solidFill>
                <a:latin typeface="IBM Plex Sans"/>
                <a:ea typeface="IBM Plex Sans"/>
                <a:cs typeface="IBM Plex Sans"/>
              </a:defRPr>
            </a:pPr>
            <a:r>
              <a:rPr sz="3750" b="1">
                <a:solidFill>
                  <a:srgbClr val="16202B"/>
                </a:solidFill>
                <a:latin typeface="IBM Plex Sans"/>
                <a:ea typeface="IBM Plex Sans"/>
                <a:cs typeface="IBM Plex Sans"/>
              </a:rPr>
              <a:t>Logica</a:t>
            </a:r>
          </a:p>
        </p:txBody>
      </p:sp>
      <p:sp>
        <p:nvSpPr>
          <p:cNvPr id="2" name="Rectangle 1">
            <a:extLst>
              <a:ext uri="{FF2B5EF4-FFF2-40B4-BE49-F238E27FC236}">
                <a16:creationId xmlns:a16="http://schemas.microsoft.com/office/drawing/2014/main" id="{8D3D29B5-73AC-4F18-86D5-CDF021203DFA}"/>
              </a:ext>
            </a:extLst>
          </p:cNvPr>
          <p:cNvSpPr>
            <a:spLocks noGrp="1"/>
          </p:cNvSpPr>
          <p:nvPr/>
        </p:nvSpPr>
        <p:spPr>
          <a:xfrm>
            <a:off x="809625" y="981075"/>
            <a:ext cx="10001250" cy="371475"/>
          </a:xfrm>
          <a:prstGeom prst="rect">
            <a:avLst/>
          </a:prstGeom>
          <a:noFill/>
          <a:ln w="0">
            <a:noFill/>
          </a:ln>
        </p:spPr>
        <p:txBody>
          <a:bodyPr>
            <a:noAutofit/>
          </a:bodyPr>
          <a:lstStyle/>
          <a:p>
            <a:pPr>
              <a:defRPr sz="2175" b="0">
                <a:solidFill>
                  <a:srgbClr val="5A6672"/>
                </a:solidFill>
                <a:latin typeface="IBM Plex Sans"/>
                <a:ea typeface="IBM Plex Sans"/>
                <a:cs typeface="IBM Plex Sans"/>
              </a:defRPr>
            </a:pPr>
            <a:r>
              <a:rPr sz="2175" b="0">
                <a:solidFill>
                  <a:srgbClr val="5A6672"/>
                </a:solidFill>
                <a:latin typeface="IBM Plex Sans"/>
                <a:ea typeface="IBM Plex Sans"/>
                <a:cs typeface="IBM Plex Sans"/>
              </a:rPr>
              <a:t>The research hypothesis</a:t>
            </a:r>
          </a:p>
        </p:txBody>
      </p:sp>
      <p:sp>
        <p:nvSpPr>
          <p:cNvPr id="3" name="Rounded Rectangle 2">
            <a:extLst>
              <a:ext uri="{FF2B5EF4-FFF2-40B4-BE49-F238E27FC236}">
                <a16:creationId xmlns:a16="http://schemas.microsoft.com/office/drawing/2014/main" id="{10A9E38E-C8CD-404B-9D98-CB5EAD4E0A1B}"/>
              </a:ext>
            </a:extLst>
          </p:cNvPr>
          <p:cNvSpPr>
            <a:spLocks noGrp="1"/>
          </p:cNvSpPr>
          <p:nvPr/>
        </p:nvSpPr>
        <p:spPr>
          <a:xfrm>
            <a:off x="809625" y="1524000"/>
            <a:ext cx="10572750" cy="1066800"/>
          </a:xfrm>
          <a:prstGeom prst="roundRect">
            <a:avLst>
              <a:gd name="adj" fmla="val 7143"/>
            </a:avLst>
          </a:prstGeom>
          <a:solidFill>
            <a:srgbClr val="16202B"/>
          </a:solidFill>
          <a:ln w="0">
            <a:noFill/>
          </a:ln>
        </p:spPr>
        <p:txBody>
          <a:bodyPr/>
          <a:lstStyle/>
          <a:p>
            <a:endParaRPr lang="en-US"/>
          </a:p>
        </p:txBody>
      </p:sp>
      <p:sp>
        <p:nvSpPr>
          <p:cNvPr id="4" name="Rectangle 3">
            <a:extLst>
              <a:ext uri="{FF2B5EF4-FFF2-40B4-BE49-F238E27FC236}">
                <a16:creationId xmlns:a16="http://schemas.microsoft.com/office/drawing/2014/main" id="{BA1946E6-C2E5-46BA-94B7-61B882D44789}"/>
              </a:ext>
            </a:extLst>
          </p:cNvPr>
          <p:cNvSpPr>
            <a:spLocks noGrp="1"/>
          </p:cNvSpPr>
          <p:nvPr/>
        </p:nvSpPr>
        <p:spPr>
          <a:xfrm>
            <a:off x="1047750" y="1704975"/>
            <a:ext cx="10096500" cy="333375"/>
          </a:xfrm>
          <a:prstGeom prst="rect">
            <a:avLst/>
          </a:prstGeom>
          <a:noFill/>
          <a:ln w="0">
            <a:noFill/>
          </a:ln>
        </p:spPr>
        <p:txBody>
          <a:bodyPr>
            <a:noAutofit/>
          </a:bodyPr>
          <a:lstStyle/>
          <a:p>
            <a:pPr>
              <a:defRPr sz="2100" b="1">
                <a:solidFill>
                  <a:srgbClr val="F7F8F6"/>
                </a:solidFill>
                <a:latin typeface="IBM Plex Sans"/>
                <a:ea typeface="IBM Plex Sans"/>
                <a:cs typeface="IBM Plex Sans"/>
              </a:defRPr>
            </a:pPr>
            <a:r>
              <a:rPr sz="2100" b="1">
                <a:solidFill>
                  <a:srgbClr val="F7F8F6"/>
                </a:solidFill>
                <a:latin typeface="IBM Plex Sans"/>
                <a:ea typeface="IBM Plex Sans"/>
                <a:cs typeface="IBM Plex Sans"/>
              </a:rPr>
              <a:t>A sufficiently constrained semantic model can improve</a:t>
            </a:r>
          </a:p>
        </p:txBody>
      </p:sp>
      <p:sp>
        <p:nvSpPr>
          <p:cNvPr id="5" name="Rectangle 4">
            <a:extLst>
              <a:ext uri="{FF2B5EF4-FFF2-40B4-BE49-F238E27FC236}">
                <a16:creationId xmlns:a16="http://schemas.microsoft.com/office/drawing/2014/main" id="{723A7EF1-2A87-40C7-AE52-3F03E7456676}"/>
              </a:ext>
            </a:extLst>
          </p:cNvPr>
          <p:cNvSpPr>
            <a:spLocks noGrp="1"/>
          </p:cNvSpPr>
          <p:nvPr/>
        </p:nvSpPr>
        <p:spPr>
          <a:xfrm>
            <a:off x="1047750" y="2057400"/>
            <a:ext cx="10096500" cy="333375"/>
          </a:xfrm>
          <a:prstGeom prst="rect">
            <a:avLst/>
          </a:prstGeom>
          <a:noFill/>
          <a:ln w="0">
            <a:noFill/>
          </a:ln>
        </p:spPr>
        <p:txBody>
          <a:bodyPr>
            <a:noAutofit/>
          </a:bodyPr>
          <a:lstStyle/>
          <a:p>
            <a:pPr>
              <a:defRPr sz="2100" b="1">
                <a:solidFill>
                  <a:srgbClr val="BFD8D5"/>
                </a:solidFill>
                <a:latin typeface="IBM Plex Sans"/>
                <a:ea typeface="IBM Plex Sans"/>
                <a:cs typeface="IBM Plex Sans"/>
              </a:defRPr>
            </a:pPr>
            <a:r>
              <a:rPr sz="2100" b="1">
                <a:solidFill>
                  <a:srgbClr val="BFD8D5"/>
                </a:solidFill>
                <a:latin typeface="IBM Plex Sans"/>
                <a:ea typeface="IBM Plex Sans"/>
                <a:cs typeface="IBM Plex Sans"/>
              </a:rPr>
              <a:t>context relevance, reasoning accuracy and verifiability.</a:t>
            </a:r>
          </a:p>
        </p:txBody>
      </p:sp>
      <p:sp>
        <p:nvSpPr>
          <p:cNvPr id="6" name="Rectangle 5">
            <a:extLst>
              <a:ext uri="{FF2B5EF4-FFF2-40B4-BE49-F238E27FC236}">
                <a16:creationId xmlns:a16="http://schemas.microsoft.com/office/drawing/2014/main" id="{38F61CB7-35ED-461A-A1B0-A4D6285128DC}"/>
              </a:ext>
            </a:extLst>
          </p:cNvPr>
          <p:cNvSpPr>
            <a:spLocks noGrp="1"/>
          </p:cNvSpPr>
          <p:nvPr/>
        </p:nvSpPr>
        <p:spPr>
          <a:xfrm>
            <a:off x="809625" y="2857500"/>
            <a:ext cx="5238750" cy="228600"/>
          </a:xfrm>
          <a:prstGeom prst="rect">
            <a:avLst/>
          </a:prstGeom>
          <a:noFill/>
          <a:ln w="0">
            <a:noFill/>
          </a:ln>
        </p:spPr>
        <p:txBody>
          <a:bodyPr>
            <a:noAutofit/>
          </a:bodyPr>
          <a:lstStyle/>
          <a:p>
            <a:pPr>
              <a:defRPr sz="1050" b="0">
                <a:solidFill>
                  <a:srgbClr val="2F6F62"/>
                </a:solidFill>
                <a:latin typeface="JetBrains Mono"/>
                <a:ea typeface="JetBrains Mono"/>
                <a:cs typeface="JetBrains Mono"/>
              </a:defRPr>
            </a:pPr>
            <a:r>
              <a:rPr sz="1050" b="0">
                <a:solidFill>
                  <a:srgbClr val="2F6F62"/>
                </a:solidFill>
                <a:latin typeface="JetBrains Mono"/>
                <a:ea typeface="JetBrains Mono"/>
                <a:cs typeface="JetBrains Mono"/>
              </a:rPr>
              <a:t>ARCHITECTURAL CHOICE</a:t>
            </a:r>
          </a:p>
        </p:txBody>
      </p:sp>
      <p:sp>
        <p:nvSpPr>
          <p:cNvPr id="7" name="Rectangle 6">
            <a:extLst>
              <a:ext uri="{FF2B5EF4-FFF2-40B4-BE49-F238E27FC236}">
                <a16:creationId xmlns:a16="http://schemas.microsoft.com/office/drawing/2014/main" id="{CF320EC6-381D-44FF-98DE-3EBCDF57F1E3}"/>
              </a:ext>
            </a:extLst>
          </p:cNvPr>
          <p:cNvSpPr>
            <a:spLocks noGrp="1"/>
          </p:cNvSpPr>
          <p:nvPr/>
        </p:nvSpPr>
        <p:spPr>
          <a:xfrm>
            <a:off x="7858125" y="2857500"/>
            <a:ext cx="3524250" cy="228600"/>
          </a:xfrm>
          <a:prstGeom prst="rect">
            <a:avLst/>
          </a:prstGeom>
          <a:noFill/>
          <a:ln w="0">
            <a:noFill/>
          </a:ln>
        </p:spPr>
        <p:txBody>
          <a:bodyPr>
            <a:noAutofit/>
          </a:bodyPr>
          <a:lstStyle/>
          <a:p>
            <a:pPr>
              <a:defRPr sz="1050" b="0">
                <a:solidFill>
                  <a:srgbClr val="2F6F62"/>
                </a:solidFill>
                <a:latin typeface="JetBrains Mono"/>
                <a:ea typeface="JetBrains Mono"/>
                <a:cs typeface="JetBrains Mono"/>
              </a:defRPr>
            </a:pPr>
            <a:r>
              <a:rPr sz="1050" b="0">
                <a:solidFill>
                  <a:srgbClr val="2F6F62"/>
                </a:solidFill>
                <a:latin typeface="JetBrains Mono"/>
                <a:ea typeface="JetBrains Mono"/>
                <a:cs typeface="JetBrains Mono"/>
              </a:rPr>
              <a:t>OUTCOME TO TEST</a:t>
            </a:r>
          </a:p>
        </p:txBody>
      </p:sp>
      <p:sp>
        <p:nvSpPr>
          <p:cNvPr id="8" name="Rectangle 7">
            <a:extLst>
              <a:ext uri="{FF2B5EF4-FFF2-40B4-BE49-F238E27FC236}">
                <a16:creationId xmlns:a16="http://schemas.microsoft.com/office/drawing/2014/main" id="{ED6F8E50-2A16-4823-9E3E-E3CDF96491DA}"/>
              </a:ext>
            </a:extLst>
          </p:cNvPr>
          <p:cNvSpPr>
            <a:spLocks noGrp="1"/>
          </p:cNvSpPr>
          <p:nvPr/>
        </p:nvSpPr>
        <p:spPr>
          <a:xfrm>
            <a:off x="809625" y="3133725"/>
            <a:ext cx="10572750" cy="12383"/>
          </a:xfrm>
          <a:prstGeom prst="rect">
            <a:avLst/>
          </a:prstGeom>
          <a:solidFill>
            <a:srgbClr val="DDE2DE"/>
          </a:solidFill>
          <a:ln w="0">
            <a:noFill/>
          </a:ln>
        </p:spPr>
        <p:txBody>
          <a:bodyPr/>
          <a:lstStyle/>
          <a:p>
            <a:endParaRPr lang="en-US"/>
          </a:p>
        </p:txBody>
      </p:sp>
      <p:sp>
        <p:nvSpPr>
          <p:cNvPr id="9" name="Rectangle 8">
            <a:extLst>
              <a:ext uri="{FF2B5EF4-FFF2-40B4-BE49-F238E27FC236}">
                <a16:creationId xmlns:a16="http://schemas.microsoft.com/office/drawing/2014/main" id="{E274AAE6-98F0-4EB6-B155-E224516E57B0}"/>
              </a:ext>
            </a:extLst>
          </p:cNvPr>
          <p:cNvSpPr>
            <a:spLocks noGrp="1"/>
          </p:cNvSpPr>
          <p:nvPr/>
        </p:nvSpPr>
        <p:spPr>
          <a:xfrm>
            <a:off x="809625" y="3209925"/>
            <a:ext cx="6191250" cy="285750"/>
          </a:xfrm>
          <a:prstGeom prst="rect">
            <a:avLst/>
          </a:prstGeom>
          <a:noFill/>
          <a:ln w="0">
            <a:noFill/>
          </a:ln>
        </p:spPr>
        <p:txBody>
          <a:bodyPr>
            <a:noAutofit/>
          </a:bodyPr>
          <a:lstStyle/>
          <a:p>
            <a:pPr>
              <a:defRPr sz="1725" b="1">
                <a:solidFill>
                  <a:srgbClr val="16202B"/>
                </a:solidFill>
                <a:latin typeface="IBM Plex Sans"/>
                <a:ea typeface="IBM Plex Sans"/>
                <a:cs typeface="IBM Plex Sans"/>
              </a:defRPr>
            </a:pPr>
            <a:r>
              <a:rPr sz="1725" b="1">
                <a:solidFill>
                  <a:srgbClr val="16202B"/>
                </a:solidFill>
                <a:latin typeface="IBM Plex Sans"/>
                <a:ea typeface="IBM Plex Sans"/>
                <a:cs typeface="IBM Plex Sans"/>
              </a:rPr>
              <a:t>Semantic retrieval</a:t>
            </a:r>
          </a:p>
        </p:txBody>
      </p:sp>
      <p:sp>
        <p:nvSpPr>
          <p:cNvPr id="10" name="Rectangle 9">
            <a:extLst>
              <a:ext uri="{FF2B5EF4-FFF2-40B4-BE49-F238E27FC236}">
                <a16:creationId xmlns:a16="http://schemas.microsoft.com/office/drawing/2014/main" id="{29CF3296-B2B7-4D10-98E2-C98A5322A377}"/>
              </a:ext>
            </a:extLst>
          </p:cNvPr>
          <p:cNvSpPr>
            <a:spLocks noGrp="1"/>
          </p:cNvSpPr>
          <p:nvPr/>
        </p:nvSpPr>
        <p:spPr>
          <a:xfrm>
            <a:off x="809625" y="3524250"/>
            <a:ext cx="6715125" cy="266700"/>
          </a:xfrm>
          <a:prstGeom prst="rect">
            <a:avLst/>
          </a:prstGeom>
          <a:noFill/>
          <a:ln w="0">
            <a:noFill/>
          </a:ln>
        </p:spPr>
        <p:txBody>
          <a:bodyPr>
            <a:noAutofit/>
          </a:bodyPr>
          <a:lstStyle/>
          <a:p>
            <a:pPr>
              <a:defRPr sz="1350" b="0">
                <a:solidFill>
                  <a:srgbClr val="5A6672"/>
                </a:solidFill>
                <a:latin typeface="IBM Plex Sans"/>
                <a:ea typeface="IBM Plex Sans"/>
                <a:cs typeface="IBM Plex Sans"/>
              </a:defRPr>
            </a:pPr>
            <a:r>
              <a:rPr sz="1350" b="0">
                <a:solidFill>
                  <a:srgbClr val="5A6672"/>
                </a:solidFill>
                <a:latin typeface="IBM Plex Sans"/>
                <a:ea typeface="IBM Plex Sans"/>
                <a:cs typeface="IBM Plex Sans"/>
              </a:rPr>
              <a:t>Explicit requirements select the evidence.</a:t>
            </a:r>
          </a:p>
        </p:txBody>
      </p:sp>
      <p:sp>
        <p:nvSpPr>
          <p:cNvPr id="11" name="Rectangle 10">
            <a:extLst>
              <a:ext uri="{FF2B5EF4-FFF2-40B4-BE49-F238E27FC236}">
                <a16:creationId xmlns:a16="http://schemas.microsoft.com/office/drawing/2014/main" id="{437E4038-386E-4754-B6E0-EEB65D0E44EC}"/>
              </a:ext>
            </a:extLst>
          </p:cNvPr>
          <p:cNvSpPr>
            <a:spLocks noGrp="1"/>
          </p:cNvSpPr>
          <p:nvPr/>
        </p:nvSpPr>
        <p:spPr>
          <a:xfrm>
            <a:off x="7210425" y="3295650"/>
            <a:ext cx="428625" cy="342900"/>
          </a:xfrm>
          <a:prstGeom prst="rect">
            <a:avLst/>
          </a:prstGeom>
          <a:noFill/>
          <a:ln w="0">
            <a:noFill/>
          </a:ln>
        </p:spPr>
        <p:txBody>
          <a:bodyPr>
            <a:noAutofit/>
          </a:bodyPr>
          <a:lstStyle/>
          <a:p>
            <a:pPr>
              <a:defRPr sz="2175" b="0">
                <a:solidFill>
                  <a:srgbClr val="2F6F62"/>
                </a:solidFill>
                <a:latin typeface="IBM Plex Sans"/>
                <a:ea typeface="IBM Plex Sans"/>
                <a:cs typeface="IBM Plex Sans"/>
              </a:defRPr>
            </a:pPr>
            <a:r>
              <a:rPr sz="2175" b="0">
                <a:solidFill>
                  <a:srgbClr val="2F6F62"/>
                </a:solidFill>
                <a:latin typeface="IBM Plex Sans"/>
                <a:ea typeface="IBM Plex Sans"/>
                <a:cs typeface="IBM Plex Sans"/>
              </a:rPr>
              <a:t>→</a:t>
            </a:r>
          </a:p>
        </p:txBody>
      </p:sp>
      <p:sp>
        <p:nvSpPr>
          <p:cNvPr id="12" name="Rectangle 11">
            <a:extLst>
              <a:ext uri="{FF2B5EF4-FFF2-40B4-BE49-F238E27FC236}">
                <a16:creationId xmlns:a16="http://schemas.microsoft.com/office/drawing/2014/main" id="{B4E33938-E431-4617-876C-EB886964A7FC}"/>
              </a:ext>
            </a:extLst>
          </p:cNvPr>
          <p:cNvSpPr>
            <a:spLocks noGrp="1"/>
          </p:cNvSpPr>
          <p:nvPr/>
        </p:nvSpPr>
        <p:spPr>
          <a:xfrm>
            <a:off x="7858125" y="3286125"/>
            <a:ext cx="3429000" cy="333375"/>
          </a:xfrm>
          <a:prstGeom prst="rect">
            <a:avLst/>
          </a:prstGeom>
          <a:noFill/>
          <a:ln w="0">
            <a:noFill/>
          </a:ln>
        </p:spPr>
        <p:txBody>
          <a:bodyPr>
            <a:noAutofit/>
          </a:bodyPr>
          <a:lstStyle/>
          <a:p>
            <a:pPr>
              <a:defRPr sz="2025" b="1">
                <a:solidFill>
                  <a:srgbClr val="2F6F62"/>
                </a:solidFill>
                <a:latin typeface="IBM Plex Sans"/>
                <a:ea typeface="IBM Plex Sans"/>
                <a:cs typeface="IBM Plex Sans"/>
              </a:defRPr>
            </a:pPr>
            <a:r>
              <a:rPr sz="2025" b="1">
                <a:solidFill>
                  <a:srgbClr val="2F6F62"/>
                </a:solidFill>
                <a:latin typeface="IBM Plex Sans"/>
                <a:ea typeface="IBM Plex Sans"/>
                <a:cs typeface="IBM Plex Sans"/>
              </a:rPr>
              <a:t>Context relevance</a:t>
            </a:r>
          </a:p>
        </p:txBody>
      </p:sp>
      <p:sp>
        <p:nvSpPr>
          <p:cNvPr id="13" name="Rectangle 12">
            <a:extLst>
              <a:ext uri="{FF2B5EF4-FFF2-40B4-BE49-F238E27FC236}">
                <a16:creationId xmlns:a16="http://schemas.microsoft.com/office/drawing/2014/main" id="{4B89A01C-26D3-448A-B9B5-814A7EEA04AD}"/>
              </a:ext>
            </a:extLst>
          </p:cNvPr>
          <p:cNvSpPr>
            <a:spLocks noGrp="1"/>
          </p:cNvSpPr>
          <p:nvPr/>
        </p:nvSpPr>
        <p:spPr>
          <a:xfrm>
            <a:off x="809625" y="3876675"/>
            <a:ext cx="10572750" cy="12383"/>
          </a:xfrm>
          <a:prstGeom prst="rect">
            <a:avLst/>
          </a:prstGeom>
          <a:solidFill>
            <a:srgbClr val="DDE2DE"/>
          </a:solidFill>
          <a:ln w="0">
            <a:noFill/>
          </a:ln>
        </p:spPr>
        <p:txBody>
          <a:bodyPr/>
          <a:lstStyle/>
          <a:p>
            <a:endParaRPr lang="en-US"/>
          </a:p>
        </p:txBody>
      </p:sp>
      <p:sp>
        <p:nvSpPr>
          <p:cNvPr id="14" name="Rectangle 13">
            <a:extLst>
              <a:ext uri="{FF2B5EF4-FFF2-40B4-BE49-F238E27FC236}">
                <a16:creationId xmlns:a16="http://schemas.microsoft.com/office/drawing/2014/main" id="{967F0C11-4667-49E8-B7AD-0A186377A37B}"/>
              </a:ext>
            </a:extLst>
          </p:cNvPr>
          <p:cNvSpPr>
            <a:spLocks noGrp="1"/>
          </p:cNvSpPr>
          <p:nvPr/>
        </p:nvSpPr>
        <p:spPr>
          <a:xfrm>
            <a:off x="809625" y="3952875"/>
            <a:ext cx="6191250" cy="285750"/>
          </a:xfrm>
          <a:prstGeom prst="rect">
            <a:avLst/>
          </a:prstGeom>
          <a:noFill/>
          <a:ln w="0">
            <a:noFill/>
          </a:ln>
        </p:spPr>
        <p:txBody>
          <a:bodyPr>
            <a:noAutofit/>
          </a:bodyPr>
          <a:lstStyle/>
          <a:p>
            <a:pPr>
              <a:defRPr sz="1725" b="1">
                <a:solidFill>
                  <a:srgbClr val="16202B"/>
                </a:solidFill>
                <a:latin typeface="IBM Plex Sans"/>
                <a:ea typeface="IBM Plex Sans"/>
                <a:cs typeface="IBM Plex Sans"/>
              </a:defRPr>
            </a:pPr>
            <a:r>
              <a:rPr sz="1725" b="1">
                <a:solidFill>
                  <a:srgbClr val="16202B"/>
                </a:solidFill>
                <a:latin typeface="IBM Plex Sans"/>
                <a:ea typeface="IBM Plex Sans"/>
                <a:cs typeface="IBM Plex Sans"/>
              </a:rPr>
              <a:t>Normalized, constrained evidence</a:t>
            </a:r>
          </a:p>
        </p:txBody>
      </p:sp>
      <p:sp>
        <p:nvSpPr>
          <p:cNvPr id="15" name="Rectangle 14">
            <a:extLst>
              <a:ext uri="{FF2B5EF4-FFF2-40B4-BE49-F238E27FC236}">
                <a16:creationId xmlns:a16="http://schemas.microsoft.com/office/drawing/2014/main" id="{4702E243-7729-42F6-AE88-7783A275E391}"/>
              </a:ext>
            </a:extLst>
          </p:cNvPr>
          <p:cNvSpPr>
            <a:spLocks noGrp="1"/>
          </p:cNvSpPr>
          <p:nvPr/>
        </p:nvSpPr>
        <p:spPr>
          <a:xfrm>
            <a:off x="809625" y="4267200"/>
            <a:ext cx="6715125" cy="266700"/>
          </a:xfrm>
          <a:prstGeom prst="rect">
            <a:avLst/>
          </a:prstGeom>
          <a:noFill/>
          <a:ln w="0">
            <a:noFill/>
          </a:ln>
        </p:spPr>
        <p:txBody>
          <a:bodyPr>
            <a:noAutofit/>
          </a:bodyPr>
          <a:lstStyle/>
          <a:p>
            <a:pPr>
              <a:defRPr sz="1350" b="0">
                <a:solidFill>
                  <a:srgbClr val="5A6672"/>
                </a:solidFill>
                <a:latin typeface="IBM Plex Sans"/>
                <a:ea typeface="IBM Plex Sans"/>
                <a:cs typeface="IBM Plex Sans"/>
              </a:defRPr>
            </a:pPr>
            <a:r>
              <a:rPr sz="1350" b="0">
                <a:solidFill>
                  <a:srgbClr val="5A6672"/>
                </a:solidFill>
                <a:latin typeface="IBM Plex Sans"/>
                <a:ea typeface="IBM Plex Sans"/>
                <a:cs typeface="IBM Plex Sans"/>
              </a:rPr>
              <a:t>Consistent meaning, units and time support reasoning.</a:t>
            </a:r>
          </a:p>
        </p:txBody>
      </p:sp>
      <p:sp>
        <p:nvSpPr>
          <p:cNvPr id="16" name="Rectangle 15">
            <a:extLst>
              <a:ext uri="{FF2B5EF4-FFF2-40B4-BE49-F238E27FC236}">
                <a16:creationId xmlns:a16="http://schemas.microsoft.com/office/drawing/2014/main" id="{A76DCDD5-E45A-42AD-B467-D648A59A36DE}"/>
              </a:ext>
            </a:extLst>
          </p:cNvPr>
          <p:cNvSpPr>
            <a:spLocks noGrp="1"/>
          </p:cNvSpPr>
          <p:nvPr/>
        </p:nvSpPr>
        <p:spPr>
          <a:xfrm>
            <a:off x="7210425" y="4038600"/>
            <a:ext cx="428625" cy="342900"/>
          </a:xfrm>
          <a:prstGeom prst="rect">
            <a:avLst/>
          </a:prstGeom>
          <a:noFill/>
          <a:ln w="0">
            <a:noFill/>
          </a:ln>
        </p:spPr>
        <p:txBody>
          <a:bodyPr>
            <a:noAutofit/>
          </a:bodyPr>
          <a:lstStyle/>
          <a:p>
            <a:pPr>
              <a:defRPr sz="2175" b="0">
                <a:solidFill>
                  <a:srgbClr val="2F6F62"/>
                </a:solidFill>
                <a:latin typeface="IBM Plex Sans"/>
                <a:ea typeface="IBM Plex Sans"/>
                <a:cs typeface="IBM Plex Sans"/>
              </a:defRPr>
            </a:pPr>
            <a:r>
              <a:rPr sz="2175" b="0">
                <a:solidFill>
                  <a:srgbClr val="2F6F62"/>
                </a:solidFill>
                <a:latin typeface="IBM Plex Sans"/>
                <a:ea typeface="IBM Plex Sans"/>
                <a:cs typeface="IBM Plex Sans"/>
              </a:rPr>
              <a:t>→</a:t>
            </a:r>
          </a:p>
        </p:txBody>
      </p:sp>
      <p:sp>
        <p:nvSpPr>
          <p:cNvPr id="17" name="Rectangle 16">
            <a:extLst>
              <a:ext uri="{FF2B5EF4-FFF2-40B4-BE49-F238E27FC236}">
                <a16:creationId xmlns:a16="http://schemas.microsoft.com/office/drawing/2014/main" id="{4C048DEA-619E-4BCE-B68C-D8DD2ED2E11D}"/>
              </a:ext>
            </a:extLst>
          </p:cNvPr>
          <p:cNvSpPr>
            <a:spLocks noGrp="1"/>
          </p:cNvSpPr>
          <p:nvPr/>
        </p:nvSpPr>
        <p:spPr>
          <a:xfrm>
            <a:off x="7858125" y="4029075"/>
            <a:ext cx="3429000" cy="333375"/>
          </a:xfrm>
          <a:prstGeom prst="rect">
            <a:avLst/>
          </a:prstGeom>
          <a:noFill/>
          <a:ln w="0">
            <a:noFill/>
          </a:ln>
        </p:spPr>
        <p:txBody>
          <a:bodyPr>
            <a:noAutofit/>
          </a:bodyPr>
          <a:lstStyle/>
          <a:p>
            <a:pPr>
              <a:defRPr sz="2025" b="1">
                <a:solidFill>
                  <a:srgbClr val="2F6F62"/>
                </a:solidFill>
                <a:latin typeface="IBM Plex Sans"/>
                <a:ea typeface="IBM Plex Sans"/>
                <a:cs typeface="IBM Plex Sans"/>
              </a:defRPr>
            </a:pPr>
            <a:r>
              <a:rPr sz="2025" b="1">
                <a:solidFill>
                  <a:srgbClr val="2F6F62"/>
                </a:solidFill>
                <a:latin typeface="IBM Plex Sans"/>
                <a:ea typeface="IBM Plex Sans"/>
                <a:cs typeface="IBM Plex Sans"/>
              </a:rPr>
              <a:t>Reasoning accuracy</a:t>
            </a:r>
          </a:p>
        </p:txBody>
      </p:sp>
      <p:sp>
        <p:nvSpPr>
          <p:cNvPr id="18" name="Rectangle 17">
            <a:extLst>
              <a:ext uri="{FF2B5EF4-FFF2-40B4-BE49-F238E27FC236}">
                <a16:creationId xmlns:a16="http://schemas.microsoft.com/office/drawing/2014/main" id="{3F1A02C9-6C4F-4E7F-A4A4-AD7CD8109EF7}"/>
              </a:ext>
            </a:extLst>
          </p:cNvPr>
          <p:cNvSpPr>
            <a:spLocks noGrp="1"/>
          </p:cNvSpPr>
          <p:nvPr/>
        </p:nvSpPr>
        <p:spPr>
          <a:xfrm>
            <a:off x="809625" y="4619625"/>
            <a:ext cx="10572750" cy="12383"/>
          </a:xfrm>
          <a:prstGeom prst="rect">
            <a:avLst/>
          </a:prstGeom>
          <a:solidFill>
            <a:srgbClr val="DDE2DE"/>
          </a:solidFill>
          <a:ln w="0">
            <a:noFill/>
          </a:ln>
        </p:spPr>
        <p:txBody>
          <a:bodyPr/>
          <a:lstStyle/>
          <a:p>
            <a:endParaRPr lang="en-US"/>
          </a:p>
        </p:txBody>
      </p:sp>
      <p:sp>
        <p:nvSpPr>
          <p:cNvPr id="19" name="Rectangle 18">
            <a:extLst>
              <a:ext uri="{FF2B5EF4-FFF2-40B4-BE49-F238E27FC236}">
                <a16:creationId xmlns:a16="http://schemas.microsoft.com/office/drawing/2014/main" id="{2F48BFED-870E-4CDD-B76D-94AC9F41BC39}"/>
              </a:ext>
            </a:extLst>
          </p:cNvPr>
          <p:cNvSpPr>
            <a:spLocks noGrp="1"/>
          </p:cNvSpPr>
          <p:nvPr/>
        </p:nvSpPr>
        <p:spPr>
          <a:xfrm>
            <a:off x="809625" y="4695825"/>
            <a:ext cx="6191250" cy="285750"/>
          </a:xfrm>
          <a:prstGeom prst="rect">
            <a:avLst/>
          </a:prstGeom>
          <a:noFill/>
          <a:ln w="0">
            <a:noFill/>
          </a:ln>
        </p:spPr>
        <p:txBody>
          <a:bodyPr>
            <a:noAutofit/>
          </a:bodyPr>
          <a:lstStyle/>
          <a:p>
            <a:pPr>
              <a:defRPr sz="1725" b="1">
                <a:solidFill>
                  <a:srgbClr val="16202B"/>
                </a:solidFill>
                <a:latin typeface="IBM Plex Sans"/>
                <a:ea typeface="IBM Plex Sans"/>
                <a:cs typeface="IBM Plex Sans"/>
              </a:defRPr>
            </a:pPr>
            <a:r>
              <a:rPr sz="1725" b="1">
                <a:solidFill>
                  <a:srgbClr val="16202B"/>
                </a:solidFill>
                <a:latin typeface="IBM Plex Sans"/>
                <a:ea typeface="IBM Plex Sans"/>
                <a:cs typeface="IBM Plex Sans"/>
              </a:rPr>
              <a:t>Provenance + citation validation</a:t>
            </a:r>
          </a:p>
        </p:txBody>
      </p:sp>
      <p:sp>
        <p:nvSpPr>
          <p:cNvPr id="20" name="Rectangle 19">
            <a:extLst>
              <a:ext uri="{FF2B5EF4-FFF2-40B4-BE49-F238E27FC236}">
                <a16:creationId xmlns:a16="http://schemas.microsoft.com/office/drawing/2014/main" id="{247453E2-1DE9-4DC5-A959-505E4D4A8BC8}"/>
              </a:ext>
            </a:extLst>
          </p:cNvPr>
          <p:cNvSpPr>
            <a:spLocks noGrp="1"/>
          </p:cNvSpPr>
          <p:nvPr/>
        </p:nvSpPr>
        <p:spPr>
          <a:xfrm>
            <a:off x="809625" y="5010150"/>
            <a:ext cx="6715125" cy="266700"/>
          </a:xfrm>
          <a:prstGeom prst="rect">
            <a:avLst/>
          </a:prstGeom>
          <a:noFill/>
          <a:ln w="0">
            <a:noFill/>
          </a:ln>
        </p:spPr>
        <p:txBody>
          <a:bodyPr>
            <a:noAutofit/>
          </a:bodyPr>
          <a:lstStyle/>
          <a:p>
            <a:pPr>
              <a:defRPr sz="1350" b="0">
                <a:solidFill>
                  <a:srgbClr val="5A6672"/>
                </a:solidFill>
                <a:latin typeface="IBM Plex Sans"/>
                <a:ea typeface="IBM Plex Sans"/>
                <a:cs typeface="IBM Plex Sans"/>
              </a:defRPr>
            </a:pPr>
            <a:r>
              <a:rPr sz="1350" b="0">
                <a:solidFill>
                  <a:srgbClr val="5A6672"/>
                </a:solidFill>
                <a:latin typeface="IBM Plex Sans"/>
                <a:ea typeface="IBM Plex Sans"/>
                <a:cs typeface="IBM Plex Sans"/>
              </a:rPr>
              <a:t>Trace claims to evidence and flag unsupported citations.</a:t>
            </a:r>
          </a:p>
        </p:txBody>
      </p:sp>
      <p:sp>
        <p:nvSpPr>
          <p:cNvPr id="21" name="Rectangle 20">
            <a:extLst>
              <a:ext uri="{FF2B5EF4-FFF2-40B4-BE49-F238E27FC236}">
                <a16:creationId xmlns:a16="http://schemas.microsoft.com/office/drawing/2014/main" id="{5E6E3D24-16D8-484D-B6D0-8091CEB5C965}"/>
              </a:ext>
            </a:extLst>
          </p:cNvPr>
          <p:cNvSpPr>
            <a:spLocks noGrp="1"/>
          </p:cNvSpPr>
          <p:nvPr/>
        </p:nvSpPr>
        <p:spPr>
          <a:xfrm>
            <a:off x="7210425" y="4781550"/>
            <a:ext cx="428625" cy="342900"/>
          </a:xfrm>
          <a:prstGeom prst="rect">
            <a:avLst/>
          </a:prstGeom>
          <a:noFill/>
          <a:ln w="0">
            <a:noFill/>
          </a:ln>
        </p:spPr>
        <p:txBody>
          <a:bodyPr>
            <a:noAutofit/>
          </a:bodyPr>
          <a:lstStyle/>
          <a:p>
            <a:pPr>
              <a:defRPr sz="2175" b="0">
                <a:solidFill>
                  <a:srgbClr val="2F6F62"/>
                </a:solidFill>
                <a:latin typeface="IBM Plex Sans"/>
                <a:ea typeface="IBM Plex Sans"/>
                <a:cs typeface="IBM Plex Sans"/>
              </a:defRPr>
            </a:pPr>
            <a:r>
              <a:rPr sz="2175" b="0">
                <a:solidFill>
                  <a:srgbClr val="2F6F62"/>
                </a:solidFill>
                <a:latin typeface="IBM Plex Sans"/>
                <a:ea typeface="IBM Plex Sans"/>
                <a:cs typeface="IBM Plex Sans"/>
              </a:rPr>
              <a:t>→</a:t>
            </a:r>
          </a:p>
        </p:txBody>
      </p:sp>
      <p:sp>
        <p:nvSpPr>
          <p:cNvPr id="22" name="Rectangle 21">
            <a:extLst>
              <a:ext uri="{FF2B5EF4-FFF2-40B4-BE49-F238E27FC236}">
                <a16:creationId xmlns:a16="http://schemas.microsoft.com/office/drawing/2014/main" id="{4A201AF0-3C21-490E-B433-08B678C05ADB}"/>
              </a:ext>
            </a:extLst>
          </p:cNvPr>
          <p:cNvSpPr>
            <a:spLocks noGrp="1"/>
          </p:cNvSpPr>
          <p:nvPr/>
        </p:nvSpPr>
        <p:spPr>
          <a:xfrm>
            <a:off x="7858125" y="4772025"/>
            <a:ext cx="3429000" cy="333375"/>
          </a:xfrm>
          <a:prstGeom prst="rect">
            <a:avLst/>
          </a:prstGeom>
          <a:noFill/>
          <a:ln w="0">
            <a:noFill/>
          </a:ln>
        </p:spPr>
        <p:txBody>
          <a:bodyPr>
            <a:noAutofit/>
          </a:bodyPr>
          <a:lstStyle/>
          <a:p>
            <a:pPr>
              <a:defRPr sz="2025" b="1">
                <a:solidFill>
                  <a:srgbClr val="2F6F62"/>
                </a:solidFill>
                <a:latin typeface="IBM Plex Sans"/>
                <a:ea typeface="IBM Plex Sans"/>
                <a:cs typeface="IBM Plex Sans"/>
              </a:defRPr>
            </a:pPr>
            <a:r>
              <a:rPr sz="2025" b="1">
                <a:solidFill>
                  <a:srgbClr val="2F6F62"/>
                </a:solidFill>
                <a:latin typeface="IBM Plex Sans"/>
                <a:ea typeface="IBM Plex Sans"/>
                <a:cs typeface="IBM Plex Sans"/>
              </a:rPr>
              <a:t>Verifiability</a:t>
            </a:r>
          </a:p>
        </p:txBody>
      </p:sp>
      <p:sp>
        <p:nvSpPr>
          <p:cNvPr id="23" name="Rounded Rectangle 22">
            <a:extLst>
              <a:ext uri="{FF2B5EF4-FFF2-40B4-BE49-F238E27FC236}">
                <a16:creationId xmlns:a16="http://schemas.microsoft.com/office/drawing/2014/main" id="{BB451F6F-F03C-43DA-A174-D3F7B1BFF47E}"/>
              </a:ext>
            </a:extLst>
          </p:cNvPr>
          <p:cNvSpPr>
            <a:spLocks noGrp="1"/>
          </p:cNvSpPr>
          <p:nvPr/>
        </p:nvSpPr>
        <p:spPr>
          <a:xfrm>
            <a:off x="809625" y="5600700"/>
            <a:ext cx="10572750" cy="781050"/>
          </a:xfrm>
          <a:prstGeom prst="roundRect">
            <a:avLst>
              <a:gd name="adj" fmla="val 9756"/>
            </a:avLst>
          </a:prstGeom>
          <a:solidFill>
            <a:srgbClr val="E8EFEB"/>
          </a:solidFill>
          <a:ln w="0">
            <a:noFill/>
          </a:ln>
        </p:spPr>
        <p:txBody>
          <a:bodyPr/>
          <a:lstStyle/>
          <a:p>
            <a:endParaRPr lang="en-US"/>
          </a:p>
        </p:txBody>
      </p:sp>
      <p:sp>
        <p:nvSpPr>
          <p:cNvPr id="24" name="Rectangle 23">
            <a:extLst>
              <a:ext uri="{FF2B5EF4-FFF2-40B4-BE49-F238E27FC236}">
                <a16:creationId xmlns:a16="http://schemas.microsoft.com/office/drawing/2014/main" id="{F3F69C06-A07F-4DA8-9BFD-35866A6A2656}"/>
              </a:ext>
            </a:extLst>
          </p:cNvPr>
          <p:cNvSpPr>
            <a:spLocks noGrp="1"/>
          </p:cNvSpPr>
          <p:nvPr/>
        </p:nvSpPr>
        <p:spPr>
          <a:xfrm>
            <a:off x="1028700" y="5724525"/>
            <a:ext cx="4476750" cy="323850"/>
          </a:xfrm>
          <a:prstGeom prst="rect">
            <a:avLst/>
          </a:prstGeom>
          <a:noFill/>
          <a:ln w="0">
            <a:noFill/>
          </a:ln>
        </p:spPr>
        <p:txBody>
          <a:bodyPr>
            <a:noAutofit/>
          </a:bodyPr>
          <a:lstStyle/>
          <a:p>
            <a:pPr>
              <a:defRPr sz="1875" b="1">
                <a:solidFill>
                  <a:srgbClr val="2F6F62"/>
                </a:solidFill>
                <a:latin typeface="IBM Plex Sans"/>
                <a:ea typeface="IBM Plex Sans"/>
                <a:cs typeface="IBM Plex Sans"/>
              </a:defRPr>
            </a:pPr>
            <a:r>
              <a:rPr sz="1875" b="1">
                <a:solidFill>
                  <a:srgbClr val="2F6F62"/>
                </a:solidFill>
                <a:latin typeface="IBM Plex Sans"/>
                <a:ea typeface="IBM Plex Sans"/>
                <a:cs typeface="IBM Plex Sans"/>
              </a:rPr>
              <a:t>Portability and shareability</a:t>
            </a:r>
          </a:p>
        </p:txBody>
      </p:sp>
      <p:sp>
        <p:nvSpPr>
          <p:cNvPr id="25" name="Rectangle 24">
            <a:extLst>
              <a:ext uri="{FF2B5EF4-FFF2-40B4-BE49-F238E27FC236}">
                <a16:creationId xmlns:a16="http://schemas.microsoft.com/office/drawing/2014/main" id="{3844FC89-C7A7-48F0-8D29-E1E317BA1C2E}"/>
              </a:ext>
            </a:extLst>
          </p:cNvPr>
          <p:cNvSpPr>
            <a:spLocks noGrp="1"/>
          </p:cNvSpPr>
          <p:nvPr/>
        </p:nvSpPr>
        <p:spPr>
          <a:xfrm>
            <a:off x="5781675" y="5715000"/>
            <a:ext cx="5381625" cy="571500"/>
          </a:xfrm>
          <a:prstGeom prst="rect">
            <a:avLst/>
          </a:prstGeom>
          <a:noFill/>
          <a:ln w="0">
            <a:noFill/>
          </a:ln>
        </p:spPr>
        <p:txBody>
          <a:bodyPr>
            <a:noAutofit/>
          </a:bodyPr>
          <a:lstStyle/>
          <a:p>
            <a:pPr>
              <a:defRPr sz="1575" b="0">
                <a:solidFill>
                  <a:srgbClr val="16202B"/>
                </a:solidFill>
                <a:latin typeface="IBM Plex Sans"/>
                <a:ea typeface="IBM Plex Sans"/>
                <a:cs typeface="IBM Plex Sans"/>
              </a:defRPr>
            </a:pPr>
            <a:r>
              <a:rPr sz="1575" b="0">
                <a:solidFill>
                  <a:srgbClr val="16202B"/>
                </a:solidFill>
                <a:latin typeface="IBM Plex Sans"/>
                <a:ea typeface="IBM Plex Sans"/>
                <a:cs typeface="IBM Plex Sans"/>
              </a:rPr>
              <a:t>Keep clinical meaning and CQL stable.</a:t>
            </a:r>
          </a:p>
          <a:p>
            <a:pPr>
              <a:defRPr sz="1575" b="0">
                <a:solidFill>
                  <a:srgbClr val="16202B"/>
                </a:solidFill>
                <a:latin typeface="IBM Plex Sans"/>
                <a:ea typeface="IBM Plex Sans"/>
                <a:cs typeface="IBM Plex Sans"/>
              </a:defRPr>
            </a:pPr>
            <a:r>
              <a:rPr sz="1575" b="0">
                <a:solidFill>
                  <a:srgbClr val="16202B"/>
                </a:solidFill>
                <a:latin typeface="IBM Plex Sans"/>
                <a:ea typeface="IBM Plex Sans"/>
                <a:cs typeface="IBM Plex Sans"/>
              </a:rPr>
              <a:t>Adapt local bindings and mappings to each data source.</a:t>
            </a:r>
          </a:p>
        </p:txBody>
      </p:sp>
      <p:sp>
        <p:nvSpPr>
          <p:cNvPr id="26" name="Rectangle 25">
            <a:extLst>
              <a:ext uri="{FF2B5EF4-FFF2-40B4-BE49-F238E27FC236}">
                <a16:creationId xmlns:a16="http://schemas.microsoft.com/office/drawing/2014/main" id="{2B5DA196-8A27-4EF0-948A-02A86CC00B3D}"/>
              </a:ext>
            </a:extLst>
          </p:cNvPr>
          <p:cNvSpPr>
            <a:spLocks noGrp="1"/>
          </p:cNvSpPr>
          <p:nvPr/>
        </p:nvSpPr>
        <p:spPr>
          <a:xfrm>
            <a:off x="809625" y="6515100"/>
            <a:ext cx="10572750" cy="209550"/>
          </a:xfrm>
          <a:prstGeom prst="rect">
            <a:avLst/>
          </a:prstGeom>
          <a:noFill/>
          <a:ln w="0">
            <a:noFill/>
          </a:ln>
        </p:spPr>
        <p:txBody>
          <a:bodyPr>
            <a:noAutofit/>
          </a:bodyPr>
          <a:lstStyle/>
          <a:p>
            <a:pPr>
              <a:defRPr sz="1050" b="0">
                <a:solidFill>
                  <a:srgbClr val="5A6672"/>
                </a:solidFill>
                <a:latin typeface="IBM Plex Sans"/>
                <a:ea typeface="IBM Plex Sans"/>
                <a:cs typeface="IBM Plex Sans"/>
              </a:defRPr>
            </a:pPr>
            <a:r>
              <a:rPr sz="1050" b="0">
                <a:solidFill>
                  <a:srgbClr val="5A6672"/>
                </a:solidFill>
                <a:latin typeface="IBM Plex Sans"/>
                <a:ea typeface="IBM Plex Sans"/>
                <a:cs typeface="IBM Plex Sans"/>
              </a:rPr>
              <a:t>A hypothesis to evaluate, not a claim of proven clinical benefit.</a:t>
            </a:r>
          </a:p>
        </p:txBody>
      </p:sp>
    </p:spTree>
    <p:extLst>
      <p:ext uri="{BB962C8B-B14F-4D97-AF65-F5344CB8AC3E}">
        <p14:creationId xmlns:p14="http://schemas.microsoft.com/office/powerpoint/2010/main" val="145805844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Metadata/LabelInfo.xml><?xml version="1.0" encoding="utf-8"?>
<clbl:labelList xmlns:clbl="http://schemas.microsoft.com/office/2020/mipLabelMetadata">
  <clbl:label id="{170051ed-867f-4092-a6af-8a42e27b7e09}" enabled="1" method="Standard" siteId="{5217e0e7-539d-4563-b1bf-7c6dcf074f91}" contentBits="0" removed="0"/>
</clbl:labelList>
</file>

<file path=docProps/app.xml><?xml version="1.0" encoding="utf-8"?>
<Properties xmlns="http://schemas.openxmlformats.org/officeDocument/2006/extended-properties" xmlns:vt="http://schemas.openxmlformats.org/officeDocument/2006/docPropsVTypes">
  <TotalTime>0</TotalTime>
  <Words>371</Words>
  <Application>Microsoft Macintosh PowerPoint</Application>
  <DocSecurity>0</DocSecurity>
  <PresentationFormat>Widescreen</PresentationFormat>
  <Paragraphs>62</Paragraphs>
  <Slides>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Calibri</vt:lpstr>
      <vt:lpstr>IBM Plex Sans</vt:lpstr>
      <vt:lpstr>JetBrains Mono</vt:lpstr>
      <vt:lpstr>ChatGPT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Claude Nanjo</cp:lastModifiedBy>
  <cp:revision>1</cp:revision>
  <dcterms:created xsi:type="dcterms:W3CDTF">2026-09-18T01:44:16Z</dcterms:created>
  <dcterms:modified xsi:type="dcterms:W3CDTF">2026-09-18T02:24:55Z</dcterms:modified>
</cp:coreProperties>
</file>